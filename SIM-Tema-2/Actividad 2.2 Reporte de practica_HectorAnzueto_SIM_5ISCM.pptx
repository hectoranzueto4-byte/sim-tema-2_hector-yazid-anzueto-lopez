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87" r:id="rId3"/>
    <p:sldId id="288" r:id="rId4"/>
    <p:sldId id="273" r:id="rId5"/>
    <p:sldId id="264" r:id="rId6"/>
    <p:sldId id="277" r:id="rId7"/>
    <p:sldId id="263" r:id="rId8"/>
    <p:sldId id="260" r:id="rId9"/>
    <p:sldId id="278" r:id="rId10"/>
    <p:sldId id="274" r:id="rId11"/>
    <p:sldId id="279" r:id="rId12"/>
    <p:sldId id="266" r:id="rId13"/>
    <p:sldId id="267" r:id="rId14"/>
    <p:sldId id="280" r:id="rId15"/>
    <p:sldId id="268" r:id="rId16"/>
    <p:sldId id="275" r:id="rId17"/>
    <p:sldId id="269" r:id="rId18"/>
    <p:sldId id="281" r:id="rId19"/>
    <p:sldId id="282" r:id="rId20"/>
    <p:sldId id="270" r:id="rId21"/>
    <p:sldId id="271" r:id="rId22"/>
    <p:sldId id="272" r:id="rId23"/>
    <p:sldId id="284" r:id="rId24"/>
    <p:sldId id="285" r:id="rId25"/>
    <p:sldId id="283" r:id="rId26"/>
    <p:sldId id="286" r:id="rId27"/>
    <p:sldId id="28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99" autoAdjust="0"/>
    <p:restoredTop sz="94660"/>
  </p:normalViewPr>
  <p:slideViewPr>
    <p:cSldViewPr snapToGrid="0">
      <p:cViewPr>
        <p:scale>
          <a:sx n="50" d="100"/>
          <a:sy n="50" d="100"/>
        </p:scale>
        <p:origin x="1930" y="8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9/1/2026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7"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4509A250-FF31-4206-8172-F9D3106AACB1}" type="datetimeFigureOut">
              <a:rPr lang="en-US" dirty="0"/>
              <a:t>9/1/2026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smtClean="0"/>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smtClean="0"/>
              <a:t>Haga clic para modificar el estilo de título del patrón</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9/1/2026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9/1/2026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hectoranzueto4-byte/SIM-Tema-2_Hector-Yazid-Anzueto-Lopez"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2049" name="Image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3506" y="457200"/>
            <a:ext cx="6318250" cy="11017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2717195" y="1993356"/>
            <a:ext cx="6124561"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Instituto Tecnológico de Frontera Comalapa Modalidad Mixta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Materia: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Simulacion</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Semestre: </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Quinto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Carrera: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Ingeniería en sistemas computacionales</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Numero de control:</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241260005</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 del alumno: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Hector</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Yazid</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Anzueto</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cap="none" normalizeH="0" baseline="0" dirty="0" err="1"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Lopez</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 del docente:</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Francisco Javier Velázquez Mingo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Nombre del trabajo:</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Actividad </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2.2 Reporte</a:t>
            </a:r>
            <a:r>
              <a:rPr kumimoji="0" lang="es-ES" altLang="es-MX" sz="1600" b="0" i="0" u="none" strike="noStrike" cap="none" normalizeH="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de practica</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1"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Fecha de entrega:</a:t>
            </a:r>
            <a:endParaRPr kumimoji="0" lang="es-MX" altLang="es-MX" sz="800" b="0" i="0" u="none" strike="noStrike" cap="none" normalizeH="0" baseline="0" dirty="0" smtClean="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Frontera Comalapa, Chiapas a </a:t>
            </a:r>
            <a:r>
              <a:rPr lang="es-ES" altLang="es-MX" sz="1600" dirty="0" smtClean="0">
                <a:latin typeface="Arial" panose="020B0604020202020204" pitchFamily="34" charset="0"/>
                <a:ea typeface="Calibri" panose="020F0502020204030204" pitchFamily="34" charset="0"/>
                <a:cs typeface="Arial" panose="020B0604020202020204" pitchFamily="34" charset="0"/>
              </a:rPr>
              <a:t>26</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 </a:t>
            </a:r>
            <a:r>
              <a:rPr kumimoji="0" lang="es-ES" altLang="es-MX" sz="1600" b="0" i="0" u="none" strike="noStrike" cap="none" normalizeH="0" baseline="0" dirty="0" smtClean="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de agosto de 2026</a:t>
            </a:r>
            <a:endParaRPr kumimoji="0" lang="es-ES" altLang="es-MX"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6788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Introduccion</a:t>
            </a:r>
            <a:r>
              <a:rPr lang="es-MX" dirty="0" smtClean="0"/>
              <a:t> </a:t>
            </a:r>
            <a:endParaRPr lang="es-MX" dirty="0"/>
          </a:p>
        </p:txBody>
      </p:sp>
      <p:sp>
        <p:nvSpPr>
          <p:cNvPr id="3" name="Marcador de contenido 2"/>
          <p:cNvSpPr>
            <a:spLocks noGrp="1"/>
          </p:cNvSpPr>
          <p:nvPr>
            <p:ph idx="1"/>
          </p:nvPr>
        </p:nvSpPr>
        <p:spPr/>
        <p:txBody>
          <a:bodyPr/>
          <a:lstStyle/>
          <a:p>
            <a:r>
              <a:rPr lang="es-MX" dirty="0"/>
              <a:t>El presente reporte documenta la práctica de simulación de un dado de seis caras utilizando tres lenguajes de programación diferentes: R, Python y Java. El objetivo principal es comprender el uso de números pseudoaleatorios y estructuras de control repetitivas para modelar un fenómeno probabilístico simple. Esta práctica es fundamental en el área de programación y estadística, ya que la simulación de un dado es la base para entender conceptos más complejos como los métodos de Monte Carlo, la teoría de probabilidades y la modelación de sistemas. A través de esta comparación se analizará la sintaxis, eficiencia y facilidad de implementación en cada lenguaje</a:t>
            </a:r>
          </a:p>
        </p:txBody>
      </p:sp>
    </p:spTree>
    <p:extLst>
      <p:ext uri="{BB962C8B-B14F-4D97-AF65-F5344CB8AC3E}">
        <p14:creationId xmlns:p14="http://schemas.microsoft.com/office/powerpoint/2010/main" val="3913426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Justificacion</a:t>
            </a:r>
            <a:r>
              <a:rPr lang="es-MX" dirty="0" smtClean="0"/>
              <a:t> </a:t>
            </a:r>
            <a:endParaRPr lang="es-MX" dirty="0"/>
          </a:p>
        </p:txBody>
      </p:sp>
      <p:sp>
        <p:nvSpPr>
          <p:cNvPr id="3" name="Marcador de contenido 2"/>
          <p:cNvSpPr>
            <a:spLocks noGrp="1"/>
          </p:cNvSpPr>
          <p:nvPr>
            <p:ph idx="1"/>
          </p:nvPr>
        </p:nvSpPr>
        <p:spPr/>
        <p:txBody>
          <a:bodyPr/>
          <a:lstStyle/>
          <a:p>
            <a:r>
              <a:rPr lang="es-MX" dirty="0"/>
              <a:t>La justificación de esta práctica radica en la importancia de dominar diferentes lenguajes de programación para resolver un mismo problema. Aunque la simulación de un dado parece un ejercicio básico, permite al estudiante desarrollar pensamiento lógico y comparar paradigmas de programación. R es un lenguaje enfocado al análisis estadístico, lo que facilita el tratamiento de los datos obtenidos. Python destaca por su sintaxis sencilla y su gran número de librerías para simulación. Java, por su parte, al ser un lenguaje orientado a objetos y de </a:t>
            </a:r>
            <a:r>
              <a:rPr lang="es-MX" dirty="0" err="1"/>
              <a:t>tipado</a:t>
            </a:r>
            <a:r>
              <a:rPr lang="es-MX" dirty="0"/>
              <a:t> fuerte, exige una estructura más rigurosa que fortalece las buenas prácticas de programación. Realizar la misma simulación en los tres lenguajes permite evaluar cuál es más adecuado según el contexto de aplicación.</a:t>
            </a:r>
          </a:p>
        </p:txBody>
      </p:sp>
    </p:spTree>
    <p:extLst>
      <p:ext uri="{BB962C8B-B14F-4D97-AF65-F5344CB8AC3E}">
        <p14:creationId xmlns:p14="http://schemas.microsoft.com/office/powerpoint/2010/main" val="2114436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Simulador Python</a:t>
            </a:r>
            <a:endParaRPr lang="es-MX" dirty="0"/>
          </a:p>
        </p:txBody>
      </p:sp>
      <p:sp>
        <p:nvSpPr>
          <p:cNvPr id="3" name="Marcador de texto 2"/>
          <p:cNvSpPr>
            <a:spLocks noGrp="1"/>
          </p:cNvSpPr>
          <p:nvPr>
            <p:ph type="body" idx="1"/>
          </p:nvPr>
        </p:nvSpPr>
        <p:spPr/>
        <p:txBody>
          <a:bodyPr/>
          <a:lstStyle/>
          <a:p>
            <a:endParaRPr lang="es-MX"/>
          </a:p>
        </p:txBody>
      </p:sp>
    </p:spTree>
    <p:extLst>
      <p:ext uri="{BB962C8B-B14F-4D97-AF65-F5344CB8AC3E}">
        <p14:creationId xmlns:p14="http://schemas.microsoft.com/office/powerpoint/2010/main" val="116998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93119"/>
            <a:ext cx="5455136" cy="3068515"/>
          </a:xfrm>
          <a:prstGeom prst="rect">
            <a:avLst/>
          </a:prstGeom>
        </p:spPr>
      </p:pic>
      <p:pic>
        <p:nvPicPr>
          <p:cNvPr id="8" name="Imagen 7"/>
          <p:cNvPicPr>
            <a:picLocks noChangeAspect="1"/>
          </p:cNvPicPr>
          <p:nvPr/>
        </p:nvPicPr>
        <p:blipFill rotWithShape="1">
          <a:blip r:embed="rId3">
            <a:extLst>
              <a:ext uri="{28A0092B-C50C-407E-A947-70E740481C1C}">
                <a14:useLocalDpi xmlns:a14="http://schemas.microsoft.com/office/drawing/2010/main" val="0"/>
              </a:ext>
            </a:extLst>
          </a:blip>
          <a:srcRect r="78727" b="40548"/>
          <a:stretch/>
        </p:blipFill>
        <p:spPr>
          <a:xfrm>
            <a:off x="5838094" y="1393119"/>
            <a:ext cx="2003584" cy="3149652"/>
          </a:xfrm>
          <a:prstGeom prst="rect">
            <a:avLst/>
          </a:prstGeom>
        </p:spPr>
      </p:pic>
      <p:pic>
        <p:nvPicPr>
          <p:cNvPr id="9" name="Imagen 8"/>
          <p:cNvPicPr>
            <a:picLocks noChangeAspect="1"/>
          </p:cNvPicPr>
          <p:nvPr/>
        </p:nvPicPr>
        <p:blipFill rotWithShape="1">
          <a:blip r:embed="rId4">
            <a:extLst>
              <a:ext uri="{28A0092B-C50C-407E-A947-70E740481C1C}">
                <a14:useLocalDpi xmlns:a14="http://schemas.microsoft.com/office/drawing/2010/main" val="0"/>
              </a:ext>
            </a:extLst>
          </a:blip>
          <a:srcRect r="41337" b="45021"/>
          <a:stretch/>
        </p:blipFill>
        <p:spPr>
          <a:xfrm>
            <a:off x="8046553" y="1261793"/>
            <a:ext cx="4077601" cy="2149622"/>
          </a:xfrm>
          <a:prstGeom prst="rect">
            <a:avLst/>
          </a:prstGeom>
        </p:spPr>
      </p:pic>
      <p:sp>
        <p:nvSpPr>
          <p:cNvPr id="10" name="CuadroTexto 9"/>
          <p:cNvSpPr txBox="1"/>
          <p:nvPr/>
        </p:nvSpPr>
        <p:spPr>
          <a:xfrm>
            <a:off x="342899" y="114804"/>
            <a:ext cx="4950070" cy="369332"/>
          </a:xfrm>
          <a:prstGeom prst="rect">
            <a:avLst/>
          </a:prstGeom>
          <a:noFill/>
        </p:spPr>
        <p:txBody>
          <a:bodyPr wrap="square" rtlCol="0">
            <a:spAutoFit/>
          </a:bodyPr>
          <a:lstStyle/>
          <a:p>
            <a:r>
              <a:rPr lang="es-MX" dirty="0" smtClean="0"/>
              <a:t>1.Crear el proyecto</a:t>
            </a:r>
            <a:endParaRPr lang="es-MX" dirty="0"/>
          </a:p>
        </p:txBody>
      </p:sp>
      <p:sp>
        <p:nvSpPr>
          <p:cNvPr id="11" name="CuadroTexto 10"/>
          <p:cNvSpPr txBox="1"/>
          <p:nvPr/>
        </p:nvSpPr>
        <p:spPr>
          <a:xfrm>
            <a:off x="413239" y="615462"/>
            <a:ext cx="4615962" cy="646331"/>
          </a:xfrm>
          <a:prstGeom prst="rect">
            <a:avLst/>
          </a:prstGeom>
          <a:noFill/>
        </p:spPr>
        <p:txBody>
          <a:bodyPr wrap="square" rtlCol="0">
            <a:spAutoFit/>
          </a:bodyPr>
          <a:lstStyle/>
          <a:p>
            <a:r>
              <a:rPr lang="es-MX" dirty="0" smtClean="0"/>
              <a:t>1.1 abrir la carpeta de proyectos de la computadora </a:t>
            </a:r>
            <a:endParaRPr lang="es-MX" dirty="0"/>
          </a:p>
        </p:txBody>
      </p:sp>
      <p:sp>
        <p:nvSpPr>
          <p:cNvPr id="12" name="CuadroTexto 11"/>
          <p:cNvSpPr txBox="1"/>
          <p:nvPr/>
        </p:nvSpPr>
        <p:spPr>
          <a:xfrm>
            <a:off x="6084277" y="484136"/>
            <a:ext cx="3780692" cy="646331"/>
          </a:xfrm>
          <a:prstGeom prst="rect">
            <a:avLst/>
          </a:prstGeom>
          <a:noFill/>
        </p:spPr>
        <p:txBody>
          <a:bodyPr wrap="square" rtlCol="0">
            <a:spAutoFit/>
          </a:bodyPr>
          <a:lstStyle/>
          <a:p>
            <a:r>
              <a:rPr lang="es-MX" dirty="0" smtClean="0"/>
              <a:t>1.2 crear una carpeta nueva y darle nombre </a:t>
            </a:r>
            <a:endParaRPr lang="es-MX" dirty="0"/>
          </a:p>
        </p:txBody>
      </p:sp>
    </p:spTree>
    <p:extLst>
      <p:ext uri="{BB962C8B-B14F-4D97-AF65-F5344CB8AC3E}">
        <p14:creationId xmlns:p14="http://schemas.microsoft.com/office/powerpoint/2010/main" val="1337273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46" y="1850497"/>
            <a:ext cx="5460023" cy="3071263"/>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0992" y="2254943"/>
            <a:ext cx="5705233" cy="3209193"/>
          </a:xfrm>
          <a:prstGeom prst="rect">
            <a:avLst/>
          </a:prstGeom>
        </p:spPr>
      </p:pic>
      <p:sp>
        <p:nvSpPr>
          <p:cNvPr id="4" name="CuadroTexto 3"/>
          <p:cNvSpPr txBox="1"/>
          <p:nvPr/>
        </p:nvSpPr>
        <p:spPr>
          <a:xfrm>
            <a:off x="184638" y="958361"/>
            <a:ext cx="4730262" cy="646331"/>
          </a:xfrm>
          <a:prstGeom prst="rect">
            <a:avLst/>
          </a:prstGeom>
          <a:noFill/>
        </p:spPr>
        <p:txBody>
          <a:bodyPr wrap="square" rtlCol="0">
            <a:spAutoFit/>
          </a:bodyPr>
          <a:lstStyle/>
          <a:p>
            <a:r>
              <a:rPr lang="es-MX" dirty="0" smtClean="0"/>
              <a:t>1.3 Dentro de la carpeta presionar el botón secundario para abrir la terminal </a:t>
            </a:r>
            <a:endParaRPr lang="es-MX" dirty="0"/>
          </a:p>
        </p:txBody>
      </p:sp>
      <p:sp>
        <p:nvSpPr>
          <p:cNvPr id="5" name="CuadroTexto 4"/>
          <p:cNvSpPr txBox="1"/>
          <p:nvPr/>
        </p:nvSpPr>
        <p:spPr>
          <a:xfrm>
            <a:off x="6028104" y="1362807"/>
            <a:ext cx="6011008" cy="646331"/>
          </a:xfrm>
          <a:prstGeom prst="rect">
            <a:avLst/>
          </a:prstGeom>
          <a:noFill/>
        </p:spPr>
        <p:txBody>
          <a:bodyPr wrap="square" rtlCol="0">
            <a:spAutoFit/>
          </a:bodyPr>
          <a:lstStyle/>
          <a:p>
            <a:r>
              <a:rPr lang="es-MX" dirty="0" smtClean="0"/>
              <a:t>1.4 dentro de </a:t>
            </a:r>
            <a:r>
              <a:rPr lang="es-MX" dirty="0" err="1" smtClean="0"/>
              <a:t>cmd</a:t>
            </a:r>
            <a:r>
              <a:rPr lang="es-MX" dirty="0" smtClean="0"/>
              <a:t> escribir “</a:t>
            </a:r>
            <a:r>
              <a:rPr lang="es-MX" dirty="0" err="1" smtClean="0"/>
              <a:t>code</a:t>
            </a:r>
            <a:r>
              <a:rPr lang="es-MX" dirty="0" smtClean="0"/>
              <a:t> .” y presionar </a:t>
            </a:r>
            <a:r>
              <a:rPr lang="es-MX" dirty="0" err="1" smtClean="0"/>
              <a:t>enter</a:t>
            </a:r>
            <a:r>
              <a:rPr lang="es-MX" dirty="0" smtClean="0"/>
              <a:t> para abrir el proyecto en vs </a:t>
            </a:r>
            <a:r>
              <a:rPr lang="es-MX" dirty="0" err="1" smtClean="0"/>
              <a:t>code</a:t>
            </a:r>
            <a:endParaRPr lang="es-MX" dirty="0"/>
          </a:p>
        </p:txBody>
      </p:sp>
    </p:spTree>
    <p:extLst>
      <p:ext uri="{BB962C8B-B14F-4D97-AF65-F5344CB8AC3E}">
        <p14:creationId xmlns:p14="http://schemas.microsoft.com/office/powerpoint/2010/main" val="1724541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27" y="1182577"/>
            <a:ext cx="4927198" cy="2771549"/>
          </a:xfrm>
          <a:prstGeom prst="rect">
            <a:avLst/>
          </a:prstGeom>
        </p:spPr>
      </p:pic>
      <p:pic>
        <p:nvPicPr>
          <p:cNvPr id="7" name="Imagen 6"/>
          <p:cNvPicPr>
            <a:picLocks noChangeAspect="1"/>
          </p:cNvPicPr>
          <p:nvPr/>
        </p:nvPicPr>
        <p:blipFill rotWithShape="1">
          <a:blip r:embed="rId2">
            <a:extLst>
              <a:ext uri="{28A0092B-C50C-407E-A947-70E740481C1C}">
                <a14:useLocalDpi xmlns:a14="http://schemas.microsoft.com/office/drawing/2010/main" val="0"/>
              </a:ext>
            </a:extLst>
          </a:blip>
          <a:srcRect r="79944" b="86173"/>
          <a:stretch/>
        </p:blipFill>
        <p:spPr>
          <a:xfrm>
            <a:off x="6360160" y="1763073"/>
            <a:ext cx="3454400" cy="1339634"/>
          </a:xfrm>
          <a:prstGeom prst="rect">
            <a:avLst/>
          </a:prstGeom>
        </p:spPr>
      </p:pic>
      <p:sp>
        <p:nvSpPr>
          <p:cNvPr id="9" name="CuadroTexto 8"/>
          <p:cNvSpPr txBox="1"/>
          <p:nvPr/>
        </p:nvSpPr>
        <p:spPr>
          <a:xfrm>
            <a:off x="106527" y="536246"/>
            <a:ext cx="6192673" cy="646331"/>
          </a:xfrm>
          <a:prstGeom prst="rect">
            <a:avLst/>
          </a:prstGeom>
          <a:noFill/>
        </p:spPr>
        <p:txBody>
          <a:bodyPr wrap="square" rtlCol="0">
            <a:spAutoFit/>
          </a:bodyPr>
          <a:lstStyle/>
          <a:p>
            <a:r>
              <a:rPr lang="es-MX" dirty="0" smtClean="0"/>
              <a:t>1.5 Dentro de vs </a:t>
            </a:r>
            <a:r>
              <a:rPr lang="es-MX" dirty="0" err="1" smtClean="0"/>
              <a:t>code</a:t>
            </a:r>
            <a:r>
              <a:rPr lang="es-MX" dirty="0" smtClean="0"/>
              <a:t> en el explorador en la parte superior izquierda   </a:t>
            </a:r>
            <a:endParaRPr lang="es-MX" dirty="0"/>
          </a:p>
        </p:txBody>
      </p:sp>
      <p:sp>
        <p:nvSpPr>
          <p:cNvPr id="10" name="CuadroTexto 9"/>
          <p:cNvSpPr txBox="1"/>
          <p:nvPr/>
        </p:nvSpPr>
        <p:spPr>
          <a:xfrm>
            <a:off x="6360160" y="621435"/>
            <a:ext cx="3987800" cy="923330"/>
          </a:xfrm>
          <a:prstGeom prst="rect">
            <a:avLst/>
          </a:prstGeom>
          <a:noFill/>
        </p:spPr>
        <p:txBody>
          <a:bodyPr wrap="square" rtlCol="0">
            <a:spAutoFit/>
          </a:bodyPr>
          <a:lstStyle/>
          <a:p>
            <a:r>
              <a:rPr lang="es-MX" dirty="0" smtClean="0"/>
              <a:t>Seleccionar la carpeta dado y crear un archivo nuevo llamado dados.py y animación.py</a:t>
            </a:r>
            <a:endParaRPr lang="es-MX" dirty="0"/>
          </a:p>
        </p:txBody>
      </p:sp>
      <p:pic>
        <p:nvPicPr>
          <p:cNvPr id="11" name="Imagen 10"/>
          <p:cNvPicPr>
            <a:picLocks noChangeAspect="1"/>
          </p:cNvPicPr>
          <p:nvPr/>
        </p:nvPicPr>
        <p:blipFill rotWithShape="1">
          <a:blip r:embed="rId3"/>
          <a:srcRect r="77324" b="78030"/>
          <a:stretch/>
        </p:blipFill>
        <p:spPr>
          <a:xfrm>
            <a:off x="6451405" y="3219415"/>
            <a:ext cx="3627315" cy="1976886"/>
          </a:xfrm>
          <a:prstGeom prst="rect">
            <a:avLst/>
          </a:prstGeom>
        </p:spPr>
      </p:pic>
    </p:spTree>
    <p:extLst>
      <p:ext uri="{BB962C8B-B14F-4D97-AF65-F5344CB8AC3E}">
        <p14:creationId xmlns:p14="http://schemas.microsoft.com/office/powerpoint/2010/main" val="1158916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uadroTexto 16"/>
          <p:cNvSpPr txBox="1"/>
          <p:nvPr/>
        </p:nvSpPr>
        <p:spPr>
          <a:xfrm>
            <a:off x="306754" y="579120"/>
            <a:ext cx="5242560" cy="369332"/>
          </a:xfrm>
          <a:prstGeom prst="rect">
            <a:avLst/>
          </a:prstGeom>
          <a:noFill/>
        </p:spPr>
        <p:txBody>
          <a:bodyPr wrap="square" rtlCol="0">
            <a:spAutoFit/>
          </a:bodyPr>
          <a:lstStyle/>
          <a:p>
            <a:r>
              <a:rPr lang="es-MX" dirty="0" smtClean="0"/>
              <a:t>2. Programar la lógica interna </a:t>
            </a:r>
            <a:endParaRPr lang="es-MX" dirty="0"/>
          </a:p>
        </p:txBody>
      </p:sp>
      <p:sp>
        <p:nvSpPr>
          <p:cNvPr id="18" name="CuadroTexto 17"/>
          <p:cNvSpPr txBox="1"/>
          <p:nvPr/>
        </p:nvSpPr>
        <p:spPr>
          <a:xfrm>
            <a:off x="375920" y="1549400"/>
            <a:ext cx="5547360" cy="646331"/>
          </a:xfrm>
          <a:prstGeom prst="rect">
            <a:avLst/>
          </a:prstGeom>
          <a:noFill/>
        </p:spPr>
        <p:txBody>
          <a:bodyPr wrap="square" rtlCol="0">
            <a:spAutoFit/>
          </a:bodyPr>
          <a:lstStyle/>
          <a:p>
            <a:r>
              <a:rPr lang="es-MX" dirty="0" smtClean="0"/>
              <a:t>2. 1 importar la función “</a:t>
            </a:r>
            <a:r>
              <a:rPr lang="es-MX" dirty="0" err="1" smtClean="0"/>
              <a:t>random</a:t>
            </a:r>
            <a:r>
              <a:rPr lang="es-MX" dirty="0" smtClean="0"/>
              <a:t>” para simular el resultado y </a:t>
            </a:r>
            <a:r>
              <a:rPr lang="es-MX" dirty="0" err="1" smtClean="0"/>
              <a:t>tkinker</a:t>
            </a:r>
            <a:r>
              <a:rPr lang="es-MX" dirty="0" smtClean="0"/>
              <a:t> para el interfaz visual</a:t>
            </a:r>
            <a:endParaRPr lang="es-MX" dirty="0"/>
          </a:p>
        </p:txBody>
      </p:sp>
      <p:pic>
        <p:nvPicPr>
          <p:cNvPr id="19" name="Imagen 18"/>
          <p:cNvPicPr>
            <a:picLocks noChangeAspect="1"/>
          </p:cNvPicPr>
          <p:nvPr/>
        </p:nvPicPr>
        <p:blipFill rotWithShape="1">
          <a:blip r:embed="rId2"/>
          <a:srcRect l="24304" t="9492" r="61093" b="83797"/>
          <a:stretch/>
        </p:blipFill>
        <p:spPr>
          <a:xfrm>
            <a:off x="528319" y="2410598"/>
            <a:ext cx="4267201" cy="1103085"/>
          </a:xfrm>
          <a:prstGeom prst="rect">
            <a:avLst/>
          </a:prstGeom>
        </p:spPr>
      </p:pic>
      <p:pic>
        <p:nvPicPr>
          <p:cNvPr id="20" name="Imagen 19"/>
          <p:cNvPicPr>
            <a:picLocks noChangeAspect="1"/>
          </p:cNvPicPr>
          <p:nvPr/>
        </p:nvPicPr>
        <p:blipFill rotWithShape="1">
          <a:blip r:embed="rId2"/>
          <a:srcRect l="-35" t="-542" r="-203" b="469"/>
          <a:stretch/>
        </p:blipFill>
        <p:spPr>
          <a:xfrm>
            <a:off x="5384486" y="2662176"/>
            <a:ext cx="6389582" cy="3588153"/>
          </a:xfrm>
          <a:prstGeom prst="rect">
            <a:avLst/>
          </a:prstGeom>
        </p:spPr>
      </p:pic>
      <p:sp>
        <p:nvSpPr>
          <p:cNvPr id="21" name="CuadroTexto 20"/>
          <p:cNvSpPr txBox="1"/>
          <p:nvPr/>
        </p:nvSpPr>
        <p:spPr>
          <a:xfrm>
            <a:off x="5806440" y="1764267"/>
            <a:ext cx="5196840" cy="646331"/>
          </a:xfrm>
          <a:prstGeom prst="rect">
            <a:avLst/>
          </a:prstGeom>
          <a:noFill/>
        </p:spPr>
        <p:txBody>
          <a:bodyPr wrap="square" rtlCol="0">
            <a:spAutoFit/>
          </a:bodyPr>
          <a:lstStyle/>
          <a:p>
            <a:r>
              <a:rPr lang="es-MX" dirty="0" smtClean="0"/>
              <a:t>2.2 copiar el siguiente código desde </a:t>
            </a:r>
            <a:r>
              <a:rPr lang="es-MX" dirty="0" err="1" smtClean="0"/>
              <a:t>git</a:t>
            </a:r>
            <a:r>
              <a:rPr lang="es-MX" dirty="0" smtClean="0"/>
              <a:t> a el </a:t>
            </a:r>
            <a:r>
              <a:rPr lang="es-MX" dirty="0" err="1" smtClean="0"/>
              <a:t>vscode</a:t>
            </a:r>
            <a:r>
              <a:rPr lang="es-MX" dirty="0" smtClean="0"/>
              <a:t> para la interfaz grafica</a:t>
            </a:r>
            <a:endParaRPr lang="es-MX" dirty="0"/>
          </a:p>
        </p:txBody>
      </p:sp>
    </p:spTree>
    <p:extLst>
      <p:ext uri="{BB962C8B-B14F-4D97-AF65-F5344CB8AC3E}">
        <p14:creationId xmlns:p14="http://schemas.microsoft.com/office/powerpoint/2010/main" val="1202543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 y="2499360"/>
            <a:ext cx="5030080" cy="2829420"/>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2680" y="2672220"/>
            <a:ext cx="5030080" cy="2829420"/>
          </a:xfrm>
          <a:prstGeom prst="rect">
            <a:avLst/>
          </a:prstGeom>
        </p:spPr>
      </p:pic>
      <p:sp>
        <p:nvSpPr>
          <p:cNvPr id="4" name="Rectángulo 3"/>
          <p:cNvSpPr/>
          <p:nvPr/>
        </p:nvSpPr>
        <p:spPr>
          <a:xfrm>
            <a:off x="525780" y="1139875"/>
            <a:ext cx="4107180" cy="1200329"/>
          </a:xfrm>
          <a:prstGeom prst="rect">
            <a:avLst/>
          </a:prstGeom>
        </p:spPr>
        <p:txBody>
          <a:bodyPr wrap="square">
            <a:spAutoFit/>
          </a:bodyPr>
          <a:lstStyle/>
          <a:p>
            <a:r>
              <a:rPr lang="es-MX" dirty="0" smtClean="0"/>
              <a:t>2.2 copiar el siguiente código desde </a:t>
            </a:r>
            <a:r>
              <a:rPr lang="es-MX" dirty="0" err="1" smtClean="0"/>
              <a:t>git</a:t>
            </a:r>
            <a:r>
              <a:rPr lang="es-MX" dirty="0" smtClean="0"/>
              <a:t> a el </a:t>
            </a:r>
            <a:r>
              <a:rPr lang="es-MX" dirty="0" err="1" smtClean="0"/>
              <a:t>vscode</a:t>
            </a:r>
            <a:r>
              <a:rPr lang="es-MX" dirty="0" smtClean="0"/>
              <a:t> para la animación de lanzamiento del dado</a:t>
            </a:r>
            <a:endParaRPr lang="es-MX" dirty="0"/>
          </a:p>
        </p:txBody>
      </p:sp>
      <p:sp>
        <p:nvSpPr>
          <p:cNvPr id="5" name="Rectángulo 4"/>
          <p:cNvSpPr/>
          <p:nvPr/>
        </p:nvSpPr>
        <p:spPr>
          <a:xfrm>
            <a:off x="6286500" y="1238935"/>
            <a:ext cx="4678680" cy="1200329"/>
          </a:xfrm>
          <a:prstGeom prst="rect">
            <a:avLst/>
          </a:prstGeom>
        </p:spPr>
        <p:txBody>
          <a:bodyPr wrap="square">
            <a:spAutoFit/>
          </a:bodyPr>
          <a:lstStyle/>
          <a:p>
            <a:r>
              <a:rPr lang="es-MX" dirty="0"/>
              <a:t>2.2 copiar el siguiente código desde </a:t>
            </a:r>
            <a:r>
              <a:rPr lang="es-MX" dirty="0" err="1"/>
              <a:t>git</a:t>
            </a:r>
            <a:r>
              <a:rPr lang="es-MX" dirty="0"/>
              <a:t> a el </a:t>
            </a:r>
            <a:r>
              <a:rPr lang="es-MX" dirty="0" err="1"/>
              <a:t>vscode</a:t>
            </a:r>
            <a:r>
              <a:rPr lang="es-MX" dirty="0"/>
              <a:t> para </a:t>
            </a:r>
            <a:r>
              <a:rPr lang="es-MX" dirty="0" smtClean="0"/>
              <a:t>la lógica del lanzamiento del dado generando un numero al azar entre 1 y 6</a:t>
            </a:r>
            <a:endParaRPr lang="es-MX" dirty="0"/>
          </a:p>
        </p:txBody>
      </p:sp>
    </p:spTree>
    <p:extLst>
      <p:ext uri="{BB962C8B-B14F-4D97-AF65-F5344CB8AC3E}">
        <p14:creationId xmlns:p14="http://schemas.microsoft.com/office/powerpoint/2010/main" val="1412336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Simulador </a:t>
            </a:r>
            <a:r>
              <a:rPr lang="es-MX" dirty="0" err="1" smtClean="0"/>
              <a:t>Rstudio</a:t>
            </a:r>
            <a:endParaRPr lang="es-MX" dirty="0"/>
          </a:p>
        </p:txBody>
      </p:sp>
      <p:sp>
        <p:nvSpPr>
          <p:cNvPr id="3" name="Marcador de texto 2"/>
          <p:cNvSpPr>
            <a:spLocks noGrp="1"/>
          </p:cNvSpPr>
          <p:nvPr>
            <p:ph type="body" idx="1"/>
          </p:nvPr>
        </p:nvSpPr>
        <p:spPr/>
        <p:txBody>
          <a:bodyPr/>
          <a:lstStyle/>
          <a:p>
            <a:endParaRPr lang="es-MX"/>
          </a:p>
        </p:txBody>
      </p:sp>
    </p:spTree>
    <p:extLst>
      <p:ext uri="{BB962C8B-B14F-4D97-AF65-F5344CB8AC3E}">
        <p14:creationId xmlns:p14="http://schemas.microsoft.com/office/powerpoint/2010/main" val="431845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p:cNvSpPr txBox="1"/>
          <p:nvPr/>
        </p:nvSpPr>
        <p:spPr>
          <a:xfrm>
            <a:off x="342899" y="114804"/>
            <a:ext cx="4950070" cy="369332"/>
          </a:xfrm>
          <a:prstGeom prst="rect">
            <a:avLst/>
          </a:prstGeom>
          <a:noFill/>
        </p:spPr>
        <p:txBody>
          <a:bodyPr wrap="square" rtlCol="0">
            <a:spAutoFit/>
          </a:bodyPr>
          <a:lstStyle/>
          <a:p>
            <a:r>
              <a:rPr lang="es-MX" dirty="0" smtClean="0"/>
              <a:t>1.Crear el proyecto</a:t>
            </a:r>
            <a:endParaRPr lang="es-MX" dirty="0"/>
          </a:p>
        </p:txBody>
      </p:sp>
      <p:sp>
        <p:nvSpPr>
          <p:cNvPr id="11" name="CuadroTexto 10"/>
          <p:cNvSpPr txBox="1"/>
          <p:nvPr/>
        </p:nvSpPr>
        <p:spPr>
          <a:xfrm>
            <a:off x="413239" y="615462"/>
            <a:ext cx="4615962" cy="646331"/>
          </a:xfrm>
          <a:prstGeom prst="rect">
            <a:avLst/>
          </a:prstGeom>
          <a:noFill/>
        </p:spPr>
        <p:txBody>
          <a:bodyPr wrap="square" rtlCol="0">
            <a:spAutoFit/>
          </a:bodyPr>
          <a:lstStyle/>
          <a:p>
            <a:r>
              <a:rPr lang="es-MX" dirty="0" smtClean="0"/>
              <a:t>1.1 abrir la carpeta de repositorios de la computadora </a:t>
            </a:r>
            <a:endParaRPr lang="es-MX" dirty="0"/>
          </a:p>
        </p:txBody>
      </p:sp>
      <p:sp>
        <p:nvSpPr>
          <p:cNvPr id="12" name="CuadroTexto 11"/>
          <p:cNvSpPr txBox="1"/>
          <p:nvPr/>
        </p:nvSpPr>
        <p:spPr>
          <a:xfrm>
            <a:off x="6084277" y="484136"/>
            <a:ext cx="3780692" cy="646331"/>
          </a:xfrm>
          <a:prstGeom prst="rect">
            <a:avLst/>
          </a:prstGeom>
          <a:noFill/>
        </p:spPr>
        <p:txBody>
          <a:bodyPr wrap="square" rtlCol="0">
            <a:spAutoFit/>
          </a:bodyPr>
          <a:lstStyle/>
          <a:p>
            <a:r>
              <a:rPr lang="es-MX" dirty="0" smtClean="0"/>
              <a:t>1.2 crear una carpeta nueva y darle nombre </a:t>
            </a:r>
            <a:endParaRPr lang="es-MX" dirty="0"/>
          </a:p>
        </p:txBody>
      </p:sp>
      <p:pic>
        <p:nvPicPr>
          <p:cNvPr id="13" name="Imagen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899" y="1468205"/>
            <a:ext cx="4034077" cy="2269168"/>
          </a:xfrm>
          <a:prstGeom prst="rect">
            <a:avLst/>
          </a:prstGeom>
        </p:spPr>
      </p:pic>
      <p:pic>
        <p:nvPicPr>
          <p:cNvPr id="14" name="Imagen 13"/>
          <p:cNvPicPr>
            <a:picLocks noChangeAspect="1"/>
          </p:cNvPicPr>
          <p:nvPr/>
        </p:nvPicPr>
        <p:blipFill rotWithShape="1">
          <a:blip r:embed="rId3">
            <a:extLst>
              <a:ext uri="{28A0092B-C50C-407E-A947-70E740481C1C}">
                <a14:useLocalDpi xmlns:a14="http://schemas.microsoft.com/office/drawing/2010/main" val="0"/>
              </a:ext>
            </a:extLst>
          </a:blip>
          <a:srcRect r="79975" b="41406"/>
          <a:stretch/>
        </p:blipFill>
        <p:spPr>
          <a:xfrm>
            <a:off x="5029201" y="1261793"/>
            <a:ext cx="2800177" cy="4608749"/>
          </a:xfrm>
          <a:prstGeom prst="rect">
            <a:avLst/>
          </a:prstGeom>
        </p:spPr>
      </p:pic>
      <p:pic>
        <p:nvPicPr>
          <p:cNvPr id="15" name="Imagen 14"/>
          <p:cNvPicPr>
            <a:picLocks noChangeAspect="1"/>
          </p:cNvPicPr>
          <p:nvPr/>
        </p:nvPicPr>
        <p:blipFill rotWithShape="1">
          <a:blip r:embed="rId4">
            <a:extLst>
              <a:ext uri="{28A0092B-C50C-407E-A947-70E740481C1C}">
                <a14:useLocalDpi xmlns:a14="http://schemas.microsoft.com/office/drawing/2010/main" val="0"/>
              </a:ext>
            </a:extLst>
          </a:blip>
          <a:srcRect r="47255" b="70765"/>
          <a:stretch/>
        </p:blipFill>
        <p:spPr>
          <a:xfrm>
            <a:off x="8094029" y="1336320"/>
            <a:ext cx="3412682" cy="1063980"/>
          </a:xfrm>
          <a:prstGeom prst="rect">
            <a:avLst/>
          </a:prstGeom>
        </p:spPr>
      </p:pic>
    </p:spTree>
    <p:extLst>
      <p:ext uri="{BB962C8B-B14F-4D97-AF65-F5344CB8AC3E}">
        <p14:creationId xmlns:p14="http://schemas.microsoft.com/office/powerpoint/2010/main" val="1140908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659" y="2013225"/>
            <a:ext cx="5865875" cy="3299554"/>
          </a:xfrm>
          <a:prstGeom prst="rect">
            <a:avLst/>
          </a:prstGeom>
        </p:spPr>
      </p:pic>
      <p:sp>
        <p:nvSpPr>
          <p:cNvPr id="7" name="CuadroTexto 6"/>
          <p:cNvSpPr txBox="1"/>
          <p:nvPr/>
        </p:nvSpPr>
        <p:spPr>
          <a:xfrm>
            <a:off x="0" y="567159"/>
            <a:ext cx="5914663" cy="369332"/>
          </a:xfrm>
          <a:prstGeom prst="rect">
            <a:avLst/>
          </a:prstGeom>
          <a:noFill/>
        </p:spPr>
        <p:txBody>
          <a:bodyPr wrap="square" rtlCol="0">
            <a:spAutoFit/>
          </a:bodyPr>
          <a:lstStyle/>
          <a:p>
            <a:r>
              <a:rPr lang="es-MX" dirty="0"/>
              <a:t>2</a:t>
            </a:r>
            <a:r>
              <a:rPr lang="es-MX" dirty="0" smtClean="0"/>
              <a:t>. Abrir el proyecto en </a:t>
            </a:r>
            <a:r>
              <a:rPr lang="es-MX" dirty="0" err="1" smtClean="0"/>
              <a:t>rstudio</a:t>
            </a:r>
            <a:r>
              <a:rPr lang="es-MX" dirty="0" smtClean="0"/>
              <a:t> </a:t>
            </a:r>
            <a:endParaRPr lang="es-MX" dirty="0"/>
          </a:p>
        </p:txBody>
      </p:sp>
    </p:spTree>
    <p:extLst>
      <p:ext uri="{BB962C8B-B14F-4D97-AF65-F5344CB8AC3E}">
        <p14:creationId xmlns:p14="http://schemas.microsoft.com/office/powerpoint/2010/main" val="1175417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269" y="1278503"/>
            <a:ext cx="5734243" cy="3225512"/>
          </a:xfrm>
          <a:prstGeom prst="rect">
            <a:avLst/>
          </a:prstGeom>
        </p:spPr>
      </p:pic>
      <p:sp>
        <p:nvSpPr>
          <p:cNvPr id="6" name="CuadroTexto 5"/>
          <p:cNvSpPr txBox="1"/>
          <p:nvPr/>
        </p:nvSpPr>
        <p:spPr>
          <a:xfrm>
            <a:off x="440678" y="335280"/>
            <a:ext cx="9247332" cy="646331"/>
          </a:xfrm>
          <a:prstGeom prst="rect">
            <a:avLst/>
          </a:prstGeom>
          <a:noFill/>
        </p:spPr>
        <p:txBody>
          <a:bodyPr wrap="square" rtlCol="0">
            <a:spAutoFit/>
          </a:bodyPr>
          <a:lstStyle/>
          <a:p>
            <a:r>
              <a:rPr lang="es-MX" dirty="0" smtClean="0"/>
              <a:t>2.1 en la parte superior izquierda de </a:t>
            </a:r>
            <a:r>
              <a:rPr lang="es-MX" dirty="0"/>
              <a:t>l</a:t>
            </a:r>
            <a:r>
              <a:rPr lang="es-MX" dirty="0" smtClean="0"/>
              <a:t>a pantalla y seleccionar la opción R script y abrir la pestaña para escribir el </a:t>
            </a:r>
            <a:r>
              <a:rPr lang="es-MX" dirty="0" err="1" smtClean="0"/>
              <a:t>codigo</a:t>
            </a:r>
            <a:endParaRPr lang="es-MX" dirty="0"/>
          </a:p>
        </p:txBody>
      </p:sp>
      <p:pic>
        <p:nvPicPr>
          <p:cNvPr id="7" name="Imagen 6"/>
          <p:cNvPicPr>
            <a:picLocks noChangeAspect="1"/>
          </p:cNvPicPr>
          <p:nvPr/>
        </p:nvPicPr>
        <p:blipFill rotWithShape="1">
          <a:blip r:embed="rId2">
            <a:extLst>
              <a:ext uri="{28A0092B-C50C-407E-A947-70E740481C1C}">
                <a14:useLocalDpi xmlns:a14="http://schemas.microsoft.com/office/drawing/2010/main" val="0"/>
              </a:ext>
            </a:extLst>
          </a:blip>
          <a:srcRect r="87601" b="74757"/>
          <a:stretch/>
        </p:blipFill>
        <p:spPr>
          <a:xfrm>
            <a:off x="589657" y="4685511"/>
            <a:ext cx="1710169" cy="1958359"/>
          </a:xfrm>
          <a:prstGeom prst="rect">
            <a:avLst/>
          </a:prstGeom>
        </p:spPr>
      </p:pic>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2298" y="1278503"/>
            <a:ext cx="5518981" cy="3104427"/>
          </a:xfrm>
          <a:prstGeom prst="rect">
            <a:avLst/>
          </a:prstGeom>
        </p:spPr>
      </p:pic>
    </p:spTree>
    <p:extLst>
      <p:ext uri="{BB962C8B-B14F-4D97-AF65-F5344CB8AC3E}">
        <p14:creationId xmlns:p14="http://schemas.microsoft.com/office/powerpoint/2010/main" val="1292115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207" y="2183557"/>
            <a:ext cx="7965770" cy="4480746"/>
          </a:xfrm>
          <a:prstGeom prst="rect">
            <a:avLst/>
          </a:prstGeom>
        </p:spPr>
      </p:pic>
      <p:sp>
        <p:nvSpPr>
          <p:cNvPr id="6" name="CuadroTexto 5"/>
          <p:cNvSpPr txBox="1"/>
          <p:nvPr/>
        </p:nvSpPr>
        <p:spPr>
          <a:xfrm>
            <a:off x="606669" y="791308"/>
            <a:ext cx="5864469" cy="646331"/>
          </a:xfrm>
          <a:prstGeom prst="rect">
            <a:avLst/>
          </a:prstGeom>
          <a:noFill/>
        </p:spPr>
        <p:txBody>
          <a:bodyPr wrap="square" rtlCol="0">
            <a:spAutoFit/>
          </a:bodyPr>
          <a:lstStyle/>
          <a:p>
            <a:r>
              <a:rPr lang="es-MX" dirty="0" smtClean="0"/>
              <a:t>2.2 Dentro de r script copiar el siguiente código desde el repositorio </a:t>
            </a:r>
            <a:r>
              <a:rPr lang="es-MX" dirty="0" err="1" smtClean="0"/>
              <a:t>git</a:t>
            </a:r>
            <a:r>
              <a:rPr lang="es-MX" dirty="0" smtClean="0"/>
              <a:t> hacia el proyecto  </a:t>
            </a:r>
            <a:endParaRPr lang="es-MX" dirty="0"/>
          </a:p>
        </p:txBody>
      </p:sp>
    </p:spTree>
    <p:extLst>
      <p:ext uri="{BB962C8B-B14F-4D97-AF65-F5344CB8AC3E}">
        <p14:creationId xmlns:p14="http://schemas.microsoft.com/office/powerpoint/2010/main" val="1418297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680" y="2346960"/>
            <a:ext cx="5001231" cy="2813192"/>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0803" y="2615242"/>
            <a:ext cx="5584634" cy="3141356"/>
          </a:xfrm>
          <a:prstGeom prst="rect">
            <a:avLst/>
          </a:prstGeom>
        </p:spPr>
      </p:pic>
      <p:pic>
        <p:nvPicPr>
          <p:cNvPr id="6" name="Imagen 5"/>
          <p:cNvPicPr>
            <a:picLocks noChangeAspect="1"/>
          </p:cNvPicPr>
          <p:nvPr/>
        </p:nvPicPr>
        <p:blipFill rotWithShape="1">
          <a:blip r:embed="rId2">
            <a:extLst>
              <a:ext uri="{28A0092B-C50C-407E-A947-70E740481C1C}">
                <a14:useLocalDpi xmlns:a14="http://schemas.microsoft.com/office/drawing/2010/main" val="0"/>
              </a:ext>
            </a:extLst>
          </a:blip>
          <a:srcRect l="46318" t="6501" r="35195" b="85179"/>
          <a:stretch/>
        </p:blipFill>
        <p:spPr>
          <a:xfrm>
            <a:off x="395445" y="5598160"/>
            <a:ext cx="3531396" cy="894080"/>
          </a:xfrm>
          <a:prstGeom prst="rect">
            <a:avLst/>
          </a:prstGeom>
        </p:spPr>
      </p:pic>
      <p:sp>
        <p:nvSpPr>
          <p:cNvPr id="7" name="CuadroTexto 6"/>
          <p:cNvSpPr txBox="1"/>
          <p:nvPr/>
        </p:nvSpPr>
        <p:spPr>
          <a:xfrm>
            <a:off x="538480" y="1249680"/>
            <a:ext cx="5303520" cy="923330"/>
          </a:xfrm>
          <a:prstGeom prst="rect">
            <a:avLst/>
          </a:prstGeom>
          <a:noFill/>
        </p:spPr>
        <p:txBody>
          <a:bodyPr wrap="square" rtlCol="0">
            <a:spAutoFit/>
          </a:bodyPr>
          <a:lstStyle/>
          <a:p>
            <a:r>
              <a:rPr lang="es-MX" dirty="0" smtClean="0"/>
              <a:t>3.1 Para ejecutar el código debes seleccionar el código y al seleccionar todo presionar el botón run en la parte superior</a:t>
            </a:r>
            <a:endParaRPr lang="es-MX" dirty="0"/>
          </a:p>
        </p:txBody>
      </p:sp>
      <p:sp>
        <p:nvSpPr>
          <p:cNvPr id="8" name="CuadroTexto 7"/>
          <p:cNvSpPr txBox="1"/>
          <p:nvPr/>
        </p:nvSpPr>
        <p:spPr>
          <a:xfrm>
            <a:off x="822960" y="579120"/>
            <a:ext cx="7081520" cy="369332"/>
          </a:xfrm>
          <a:prstGeom prst="rect">
            <a:avLst/>
          </a:prstGeom>
          <a:noFill/>
        </p:spPr>
        <p:txBody>
          <a:bodyPr wrap="square" rtlCol="0">
            <a:spAutoFit/>
          </a:bodyPr>
          <a:lstStyle/>
          <a:p>
            <a:r>
              <a:rPr lang="es-MX" dirty="0" smtClean="0"/>
              <a:t>3. Ejecutar el proyecto</a:t>
            </a:r>
            <a:endParaRPr lang="es-MX" dirty="0"/>
          </a:p>
        </p:txBody>
      </p:sp>
      <p:sp>
        <p:nvSpPr>
          <p:cNvPr id="9" name="CuadroTexto 8"/>
          <p:cNvSpPr txBox="1"/>
          <p:nvPr/>
        </p:nvSpPr>
        <p:spPr>
          <a:xfrm>
            <a:off x="6096000" y="1249680"/>
            <a:ext cx="4714240" cy="923330"/>
          </a:xfrm>
          <a:prstGeom prst="rect">
            <a:avLst/>
          </a:prstGeom>
          <a:noFill/>
        </p:spPr>
        <p:txBody>
          <a:bodyPr wrap="square" rtlCol="0">
            <a:spAutoFit/>
          </a:bodyPr>
          <a:lstStyle/>
          <a:p>
            <a:r>
              <a:rPr lang="es-MX" dirty="0" smtClean="0"/>
              <a:t>3.1.1 si se desea repetir el lanzamiento se debe seleccionar la ultima línea del código y ejecutar “run”</a:t>
            </a:r>
            <a:endParaRPr lang="es-MX" dirty="0"/>
          </a:p>
        </p:txBody>
      </p:sp>
    </p:spTree>
    <p:extLst>
      <p:ext uri="{BB962C8B-B14F-4D97-AF65-F5344CB8AC3E}">
        <p14:creationId xmlns:p14="http://schemas.microsoft.com/office/powerpoint/2010/main" val="3837117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Inteliji</a:t>
            </a:r>
            <a:r>
              <a:rPr lang="es-MX" dirty="0" smtClean="0"/>
              <a:t> idea</a:t>
            </a:r>
            <a:endParaRPr lang="es-MX" dirty="0"/>
          </a:p>
        </p:txBody>
      </p:sp>
      <p:sp>
        <p:nvSpPr>
          <p:cNvPr id="3" name="Marcador de texto 2"/>
          <p:cNvSpPr>
            <a:spLocks noGrp="1"/>
          </p:cNvSpPr>
          <p:nvPr>
            <p:ph type="body" idx="1"/>
          </p:nvPr>
        </p:nvSpPr>
        <p:spPr/>
        <p:txBody>
          <a:bodyPr/>
          <a:lstStyle/>
          <a:p>
            <a:endParaRPr lang="es-MX"/>
          </a:p>
        </p:txBody>
      </p:sp>
    </p:spTree>
    <p:extLst>
      <p:ext uri="{BB962C8B-B14F-4D97-AF65-F5344CB8AC3E}">
        <p14:creationId xmlns:p14="http://schemas.microsoft.com/office/powerpoint/2010/main" val="1665576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669" y="2237489"/>
            <a:ext cx="5635164" cy="3169780"/>
          </a:xfrm>
          <a:prstGeom prst="rect">
            <a:avLst/>
          </a:prstGeom>
        </p:spPr>
      </p:pic>
      <p:sp>
        <p:nvSpPr>
          <p:cNvPr id="6" name="CuadroTexto 5"/>
          <p:cNvSpPr txBox="1"/>
          <p:nvPr/>
        </p:nvSpPr>
        <p:spPr>
          <a:xfrm>
            <a:off x="2136531" y="386862"/>
            <a:ext cx="6337236" cy="369332"/>
          </a:xfrm>
          <a:prstGeom prst="rect">
            <a:avLst/>
          </a:prstGeom>
          <a:noFill/>
        </p:spPr>
        <p:txBody>
          <a:bodyPr wrap="square" rtlCol="0">
            <a:spAutoFit/>
          </a:bodyPr>
          <a:lstStyle/>
          <a:p>
            <a:r>
              <a:rPr lang="es-MX" dirty="0" smtClean="0"/>
              <a:t>Crear proyecto en </a:t>
            </a:r>
            <a:r>
              <a:rPr lang="es-MX" dirty="0" err="1" smtClean="0"/>
              <a:t>intiliji</a:t>
            </a:r>
            <a:endParaRPr lang="es-MX" dirty="0"/>
          </a:p>
        </p:txBody>
      </p:sp>
      <p:sp>
        <p:nvSpPr>
          <p:cNvPr id="7" name="CuadroTexto 6"/>
          <p:cNvSpPr txBox="1"/>
          <p:nvPr/>
        </p:nvSpPr>
        <p:spPr>
          <a:xfrm>
            <a:off x="782515" y="923192"/>
            <a:ext cx="5188318" cy="923330"/>
          </a:xfrm>
          <a:prstGeom prst="rect">
            <a:avLst/>
          </a:prstGeom>
          <a:noFill/>
        </p:spPr>
        <p:txBody>
          <a:bodyPr wrap="square" rtlCol="0">
            <a:spAutoFit/>
          </a:bodyPr>
          <a:lstStyle/>
          <a:p>
            <a:r>
              <a:rPr lang="es-MX" dirty="0" smtClean="0"/>
              <a:t>1.Abrir aplicación </a:t>
            </a:r>
            <a:r>
              <a:rPr lang="es-MX" dirty="0" err="1" smtClean="0"/>
              <a:t>inteliji</a:t>
            </a:r>
            <a:r>
              <a:rPr lang="es-MX" dirty="0" smtClean="0"/>
              <a:t> idea y seleccionar “new Project” en la parte superior derecha de la pantalla </a:t>
            </a:r>
            <a:endParaRPr lang="es-MX" dirty="0"/>
          </a:p>
        </p:txBody>
      </p:sp>
      <p:pic>
        <p:nvPicPr>
          <p:cNvPr id="8" name="Imagen 7"/>
          <p:cNvPicPr>
            <a:picLocks noChangeAspect="1"/>
          </p:cNvPicPr>
          <p:nvPr/>
        </p:nvPicPr>
        <p:blipFill rotWithShape="1">
          <a:blip r:embed="rId2">
            <a:extLst>
              <a:ext uri="{28A0092B-C50C-407E-A947-70E740481C1C}">
                <a14:useLocalDpi xmlns:a14="http://schemas.microsoft.com/office/drawing/2010/main" val="0"/>
              </a:ext>
            </a:extLst>
          </a:blip>
          <a:srcRect l="75494" b="84007"/>
          <a:stretch/>
        </p:blipFill>
        <p:spPr>
          <a:xfrm>
            <a:off x="6244938" y="1354013"/>
            <a:ext cx="4813251" cy="1766951"/>
          </a:xfrm>
          <a:prstGeom prst="rect">
            <a:avLst/>
          </a:prstGeom>
        </p:spPr>
      </p:pic>
    </p:spTree>
    <p:extLst>
      <p:ext uri="{BB962C8B-B14F-4D97-AF65-F5344CB8AC3E}">
        <p14:creationId xmlns:p14="http://schemas.microsoft.com/office/powerpoint/2010/main" val="20636498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9940" y="2865588"/>
            <a:ext cx="5636300" cy="3170419"/>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565" y="3383100"/>
            <a:ext cx="5152292" cy="2898165"/>
          </a:xfrm>
          <a:prstGeom prst="rect">
            <a:avLst/>
          </a:prstGeom>
        </p:spPr>
      </p:pic>
      <p:sp>
        <p:nvSpPr>
          <p:cNvPr id="5" name="CuadroTexto 4"/>
          <p:cNvSpPr txBox="1"/>
          <p:nvPr/>
        </p:nvSpPr>
        <p:spPr>
          <a:xfrm>
            <a:off x="369864" y="1004484"/>
            <a:ext cx="5037993" cy="1200329"/>
          </a:xfrm>
          <a:prstGeom prst="rect">
            <a:avLst/>
          </a:prstGeom>
          <a:noFill/>
        </p:spPr>
        <p:txBody>
          <a:bodyPr wrap="square" rtlCol="0">
            <a:spAutoFit/>
          </a:bodyPr>
          <a:lstStyle/>
          <a:p>
            <a:r>
              <a:rPr lang="es-MX" dirty="0" smtClean="0"/>
              <a:t>1.2.1Nombrar el proyecto sin espacios y usando mayúscula para separar las palabras del nombre “</a:t>
            </a:r>
            <a:r>
              <a:rPr lang="es-MX" dirty="0" err="1" smtClean="0"/>
              <a:t>S</a:t>
            </a:r>
            <a:r>
              <a:rPr lang="es-MX" u="sng" dirty="0" err="1" smtClean="0"/>
              <a:t>imulacionDado</a:t>
            </a:r>
            <a:r>
              <a:rPr lang="es-MX" u="sng" dirty="0" smtClean="0"/>
              <a:t>” por ejemplo</a:t>
            </a:r>
            <a:endParaRPr lang="es-MX" dirty="0"/>
          </a:p>
        </p:txBody>
      </p:sp>
      <p:sp>
        <p:nvSpPr>
          <p:cNvPr id="6" name="CuadroTexto 5"/>
          <p:cNvSpPr txBox="1"/>
          <p:nvPr/>
        </p:nvSpPr>
        <p:spPr>
          <a:xfrm>
            <a:off x="104922" y="502920"/>
            <a:ext cx="5349240" cy="369332"/>
          </a:xfrm>
          <a:prstGeom prst="rect">
            <a:avLst/>
          </a:prstGeom>
          <a:noFill/>
        </p:spPr>
        <p:txBody>
          <a:bodyPr wrap="square" rtlCol="0">
            <a:spAutoFit/>
          </a:bodyPr>
          <a:lstStyle/>
          <a:p>
            <a:r>
              <a:rPr lang="es-MX" dirty="0" smtClean="0"/>
              <a:t>1.2 Seleccionar la opción de </a:t>
            </a:r>
            <a:r>
              <a:rPr lang="es-MX" dirty="0" err="1" smtClean="0"/>
              <a:t>javafx</a:t>
            </a:r>
            <a:r>
              <a:rPr lang="es-MX" dirty="0" smtClean="0"/>
              <a:t> </a:t>
            </a:r>
            <a:endParaRPr lang="es-MX" dirty="0"/>
          </a:p>
        </p:txBody>
      </p:sp>
      <p:sp>
        <p:nvSpPr>
          <p:cNvPr id="8" name="CuadroTexto 7"/>
          <p:cNvSpPr txBox="1"/>
          <p:nvPr/>
        </p:nvSpPr>
        <p:spPr>
          <a:xfrm>
            <a:off x="378519" y="2246178"/>
            <a:ext cx="5204460" cy="923330"/>
          </a:xfrm>
          <a:prstGeom prst="rect">
            <a:avLst/>
          </a:prstGeom>
          <a:noFill/>
        </p:spPr>
        <p:txBody>
          <a:bodyPr wrap="square" rtlCol="0">
            <a:spAutoFit/>
          </a:bodyPr>
          <a:lstStyle/>
          <a:p>
            <a:r>
              <a:rPr lang="es-MX" dirty="0" smtClean="0"/>
              <a:t>1.2.2Despues dejar las opciones de la misma forma que se muestra en la imagen de ejemplo y presionar el botón </a:t>
            </a:r>
            <a:r>
              <a:rPr lang="es-MX" dirty="0" err="1" smtClean="0"/>
              <a:t>next</a:t>
            </a:r>
            <a:r>
              <a:rPr lang="es-MX" dirty="0" smtClean="0"/>
              <a:t> </a:t>
            </a:r>
            <a:endParaRPr lang="es-MX" dirty="0"/>
          </a:p>
        </p:txBody>
      </p:sp>
      <p:sp>
        <p:nvSpPr>
          <p:cNvPr id="9" name="CuadroTexto 8"/>
          <p:cNvSpPr txBox="1"/>
          <p:nvPr/>
        </p:nvSpPr>
        <p:spPr>
          <a:xfrm>
            <a:off x="6621780" y="2026920"/>
            <a:ext cx="4587240" cy="646331"/>
          </a:xfrm>
          <a:prstGeom prst="rect">
            <a:avLst/>
          </a:prstGeom>
          <a:noFill/>
        </p:spPr>
        <p:txBody>
          <a:bodyPr wrap="square" rtlCol="0">
            <a:spAutoFit/>
          </a:bodyPr>
          <a:lstStyle/>
          <a:p>
            <a:r>
              <a:rPr lang="es-MX" dirty="0" smtClean="0"/>
              <a:t>1.3 Seleccionar las primeras tres opciones de </a:t>
            </a:r>
            <a:r>
              <a:rPr lang="es-MX" dirty="0" err="1" smtClean="0"/>
              <a:t>librerias</a:t>
            </a:r>
            <a:r>
              <a:rPr lang="es-MX" dirty="0" smtClean="0"/>
              <a:t> adicionales </a:t>
            </a:r>
            <a:endParaRPr lang="es-MX" dirty="0"/>
          </a:p>
        </p:txBody>
      </p:sp>
    </p:spTree>
    <p:extLst>
      <p:ext uri="{BB962C8B-B14F-4D97-AF65-F5344CB8AC3E}">
        <p14:creationId xmlns:p14="http://schemas.microsoft.com/office/powerpoint/2010/main" val="972288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rotWithShape="1">
          <a:blip r:embed="rId2">
            <a:extLst>
              <a:ext uri="{28A0092B-C50C-407E-A947-70E740481C1C}">
                <a14:useLocalDpi xmlns:a14="http://schemas.microsoft.com/office/drawing/2010/main" val="0"/>
              </a:ext>
            </a:extLst>
          </a:blip>
          <a:srcRect r="58361" b="27526"/>
          <a:stretch/>
        </p:blipFill>
        <p:spPr>
          <a:xfrm>
            <a:off x="211043" y="2469489"/>
            <a:ext cx="2914089" cy="2853010"/>
          </a:xfrm>
          <a:prstGeom prst="rect">
            <a:avLst/>
          </a:prstGeom>
        </p:spPr>
      </p:pic>
      <p:sp>
        <p:nvSpPr>
          <p:cNvPr id="3" name="CuadroTexto 2"/>
          <p:cNvSpPr txBox="1"/>
          <p:nvPr/>
        </p:nvSpPr>
        <p:spPr>
          <a:xfrm>
            <a:off x="998220" y="716280"/>
            <a:ext cx="8275320" cy="369332"/>
          </a:xfrm>
          <a:prstGeom prst="rect">
            <a:avLst/>
          </a:prstGeom>
          <a:noFill/>
        </p:spPr>
        <p:txBody>
          <a:bodyPr wrap="square" rtlCol="0">
            <a:spAutoFit/>
          </a:bodyPr>
          <a:lstStyle/>
          <a:p>
            <a:r>
              <a:rPr lang="es-MX" dirty="0" smtClean="0"/>
              <a:t>2.Renombrar y ordenar la estructura del proyecto</a:t>
            </a:r>
            <a:endParaRPr lang="es-MX" dirty="0"/>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4909" y="2469489"/>
            <a:ext cx="5585460" cy="3141821"/>
          </a:xfrm>
          <a:prstGeom prst="rect">
            <a:avLst/>
          </a:prstGeom>
        </p:spPr>
      </p:pic>
      <p:sp>
        <p:nvSpPr>
          <p:cNvPr id="5" name="CuadroTexto 4"/>
          <p:cNvSpPr txBox="1"/>
          <p:nvPr/>
        </p:nvSpPr>
        <p:spPr>
          <a:xfrm>
            <a:off x="96842" y="1435936"/>
            <a:ext cx="4376098" cy="923330"/>
          </a:xfrm>
          <a:prstGeom prst="rect">
            <a:avLst/>
          </a:prstGeom>
          <a:noFill/>
        </p:spPr>
        <p:txBody>
          <a:bodyPr wrap="square" rtlCol="0">
            <a:spAutoFit/>
          </a:bodyPr>
          <a:lstStyle/>
          <a:p>
            <a:r>
              <a:rPr lang="es-MX" dirty="0" smtClean="0"/>
              <a:t>2.1 Cambiar el nombre a </a:t>
            </a:r>
            <a:r>
              <a:rPr lang="es-MX" dirty="0" err="1" smtClean="0"/>
              <a:t>MainApplication,MainController</a:t>
            </a:r>
            <a:r>
              <a:rPr lang="es-MX" dirty="0" smtClean="0"/>
              <a:t> y </a:t>
            </a:r>
            <a:r>
              <a:rPr lang="es-MX" dirty="0" err="1" smtClean="0"/>
              <a:t>main-view.fxml</a:t>
            </a:r>
            <a:endParaRPr lang="es-MX" dirty="0"/>
          </a:p>
        </p:txBody>
      </p:sp>
      <p:sp>
        <p:nvSpPr>
          <p:cNvPr id="6" name="CuadroTexto 5"/>
          <p:cNvSpPr txBox="1"/>
          <p:nvPr/>
        </p:nvSpPr>
        <p:spPr>
          <a:xfrm>
            <a:off x="4880658" y="1251270"/>
            <a:ext cx="5413962" cy="1200329"/>
          </a:xfrm>
          <a:prstGeom prst="rect">
            <a:avLst/>
          </a:prstGeom>
          <a:noFill/>
        </p:spPr>
        <p:txBody>
          <a:bodyPr wrap="square" rtlCol="0">
            <a:spAutoFit/>
          </a:bodyPr>
          <a:lstStyle/>
          <a:p>
            <a:r>
              <a:rPr lang="es-MX" dirty="0" smtClean="0"/>
              <a:t>2.2 Para cambiar los nombres se debe seleccionar la clase presionar el botón secundario, seleccionar la opción </a:t>
            </a:r>
            <a:r>
              <a:rPr lang="es-MX" dirty="0" err="1" smtClean="0"/>
              <a:t>refactor</a:t>
            </a:r>
            <a:r>
              <a:rPr lang="es-MX" dirty="0" smtClean="0"/>
              <a:t> y la opción </a:t>
            </a:r>
            <a:r>
              <a:rPr lang="es-MX" dirty="0" err="1" smtClean="0"/>
              <a:t>rename</a:t>
            </a:r>
            <a:r>
              <a:rPr lang="es-MX" dirty="0" smtClean="0"/>
              <a:t>  </a:t>
            </a:r>
            <a:endParaRPr lang="es-MX" dirty="0"/>
          </a:p>
        </p:txBody>
      </p:sp>
    </p:spTree>
    <p:extLst>
      <p:ext uri="{BB962C8B-B14F-4D97-AF65-F5344CB8AC3E}">
        <p14:creationId xmlns:p14="http://schemas.microsoft.com/office/powerpoint/2010/main" val="17549082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 y="1371740"/>
            <a:ext cx="3743931" cy="2105961"/>
          </a:xfrm>
          <a:prstGeom prst="rect">
            <a:avLst/>
          </a:prstGeom>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600" y="2763800"/>
            <a:ext cx="6690080" cy="3763170"/>
          </a:xfrm>
          <a:prstGeom prst="rect">
            <a:avLst/>
          </a:prstGeom>
        </p:spPr>
      </p:pic>
      <p:sp>
        <p:nvSpPr>
          <p:cNvPr id="6" name="CuadroTexto 5"/>
          <p:cNvSpPr txBox="1"/>
          <p:nvPr/>
        </p:nvSpPr>
        <p:spPr>
          <a:xfrm>
            <a:off x="274320" y="303711"/>
            <a:ext cx="5684520" cy="923330"/>
          </a:xfrm>
          <a:prstGeom prst="rect">
            <a:avLst/>
          </a:prstGeom>
          <a:noFill/>
        </p:spPr>
        <p:txBody>
          <a:bodyPr wrap="square" rtlCol="0">
            <a:spAutoFit/>
          </a:bodyPr>
          <a:lstStyle/>
          <a:p>
            <a:r>
              <a:rPr lang="es-MX" dirty="0" smtClean="0"/>
              <a:t>2.3 Escribir el nombre de la clase siguiendo las reglas de no usar espacios y la primera letra de cada palabra debe ser </a:t>
            </a:r>
            <a:r>
              <a:rPr lang="es-MX" dirty="0" err="1" smtClean="0"/>
              <a:t>mayuscula</a:t>
            </a:r>
            <a:endParaRPr lang="es-MX" dirty="0"/>
          </a:p>
        </p:txBody>
      </p:sp>
      <p:sp>
        <p:nvSpPr>
          <p:cNvPr id="7" name="CuadroTexto 6"/>
          <p:cNvSpPr txBox="1"/>
          <p:nvPr/>
        </p:nvSpPr>
        <p:spPr>
          <a:xfrm>
            <a:off x="5730240" y="1114725"/>
            <a:ext cx="5806440" cy="369332"/>
          </a:xfrm>
          <a:prstGeom prst="rect">
            <a:avLst/>
          </a:prstGeom>
          <a:noFill/>
        </p:spPr>
        <p:txBody>
          <a:bodyPr wrap="square" rtlCol="0">
            <a:spAutoFit/>
          </a:bodyPr>
          <a:lstStyle/>
          <a:p>
            <a:r>
              <a:rPr lang="es-MX" dirty="0" smtClean="0"/>
              <a:t>3. Empezar a programar </a:t>
            </a:r>
            <a:endParaRPr lang="es-MX" dirty="0"/>
          </a:p>
        </p:txBody>
      </p:sp>
      <p:sp>
        <p:nvSpPr>
          <p:cNvPr id="8" name="CuadroTexto 7"/>
          <p:cNvSpPr txBox="1"/>
          <p:nvPr/>
        </p:nvSpPr>
        <p:spPr>
          <a:xfrm>
            <a:off x="4719600" y="1576390"/>
            <a:ext cx="4897315" cy="923330"/>
          </a:xfrm>
          <a:prstGeom prst="rect">
            <a:avLst/>
          </a:prstGeom>
          <a:noFill/>
        </p:spPr>
        <p:txBody>
          <a:bodyPr wrap="square" rtlCol="0">
            <a:spAutoFit/>
          </a:bodyPr>
          <a:lstStyle/>
          <a:p>
            <a:r>
              <a:rPr lang="es-MX" dirty="0" smtClean="0"/>
              <a:t>La clase </a:t>
            </a:r>
            <a:r>
              <a:rPr lang="es-MX" dirty="0" err="1" smtClean="0"/>
              <a:t>main</a:t>
            </a:r>
            <a:r>
              <a:rPr lang="es-MX" dirty="0" smtClean="0"/>
              <a:t> </a:t>
            </a:r>
            <a:r>
              <a:rPr lang="es-MX" dirty="0" err="1" smtClean="0"/>
              <a:t>application</a:t>
            </a:r>
            <a:r>
              <a:rPr lang="es-MX" dirty="0" smtClean="0"/>
              <a:t> sirve para iniciar la aplicación y mostrar la pantalla principal </a:t>
            </a:r>
            <a:endParaRPr lang="es-MX" dirty="0"/>
          </a:p>
        </p:txBody>
      </p:sp>
    </p:spTree>
    <p:extLst>
      <p:ext uri="{BB962C8B-B14F-4D97-AF65-F5344CB8AC3E}">
        <p14:creationId xmlns:p14="http://schemas.microsoft.com/office/powerpoint/2010/main" val="2971607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65" y="1531297"/>
            <a:ext cx="4388040" cy="2468273"/>
          </a:xfrm>
          <a:prstGeom prst="rect">
            <a:avLst/>
          </a:prstGeom>
        </p:spPr>
      </p:pic>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1754" y="1121041"/>
            <a:ext cx="4029977" cy="2266862"/>
          </a:xfrm>
          <a:prstGeom prst="rect">
            <a:avLst/>
          </a:prstGeom>
        </p:spPr>
      </p:pic>
      <p:pic>
        <p:nvPicPr>
          <p:cNvPr id="8" name="Imagen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5734" y="4133839"/>
            <a:ext cx="4202090" cy="2363676"/>
          </a:xfrm>
          <a:prstGeom prst="rect">
            <a:avLst/>
          </a:prstGeom>
        </p:spPr>
      </p:pic>
      <p:sp>
        <p:nvSpPr>
          <p:cNvPr id="11" name="CuadroTexto 10"/>
          <p:cNvSpPr txBox="1"/>
          <p:nvPr/>
        </p:nvSpPr>
        <p:spPr>
          <a:xfrm>
            <a:off x="388620" y="419100"/>
            <a:ext cx="3863340" cy="954107"/>
          </a:xfrm>
          <a:prstGeom prst="rect">
            <a:avLst/>
          </a:prstGeom>
          <a:noFill/>
        </p:spPr>
        <p:txBody>
          <a:bodyPr wrap="square" rtlCol="0">
            <a:spAutoFit/>
          </a:bodyPr>
          <a:lstStyle/>
          <a:p>
            <a:r>
              <a:rPr lang="es-MX" sz="1400" dirty="0" smtClean="0"/>
              <a:t>3.2 Abrir </a:t>
            </a:r>
            <a:r>
              <a:rPr lang="es-MX" sz="1400" dirty="0" err="1" smtClean="0"/>
              <a:t>scene</a:t>
            </a:r>
            <a:r>
              <a:rPr lang="es-MX" sz="1400" dirty="0" smtClean="0"/>
              <a:t> </a:t>
            </a:r>
            <a:r>
              <a:rPr lang="es-MX" sz="1400" dirty="0" err="1" smtClean="0"/>
              <a:t>builder</a:t>
            </a:r>
            <a:r>
              <a:rPr lang="es-MX" sz="1400" dirty="0"/>
              <a:t> </a:t>
            </a:r>
            <a:r>
              <a:rPr lang="es-MX" sz="1400" dirty="0" smtClean="0"/>
              <a:t>al seleccionar el archivo </a:t>
            </a:r>
            <a:r>
              <a:rPr lang="es-MX" sz="1400" dirty="0" err="1" smtClean="0"/>
              <a:t>fxml</a:t>
            </a:r>
            <a:r>
              <a:rPr lang="es-MX" sz="1400" dirty="0" smtClean="0"/>
              <a:t>, presionar botón secundario y seleccionar la opción </a:t>
            </a:r>
            <a:r>
              <a:rPr lang="es-MX" sz="1400" dirty="0" err="1" smtClean="0"/>
              <a:t>escene</a:t>
            </a:r>
            <a:r>
              <a:rPr lang="es-MX" sz="1400" dirty="0" smtClean="0"/>
              <a:t> </a:t>
            </a:r>
            <a:r>
              <a:rPr lang="es-MX" sz="1400" dirty="0" err="1" smtClean="0"/>
              <a:t>builder</a:t>
            </a:r>
            <a:r>
              <a:rPr lang="es-MX" sz="1400" dirty="0" smtClean="0"/>
              <a:t> que se encuentra hasta debajo de la lista   </a:t>
            </a:r>
            <a:endParaRPr lang="es-MX" sz="1400" dirty="0"/>
          </a:p>
        </p:txBody>
      </p:sp>
      <p:pic>
        <p:nvPicPr>
          <p:cNvPr id="12" name="Imagen 11"/>
          <p:cNvPicPr>
            <a:picLocks noChangeAspect="1"/>
          </p:cNvPicPr>
          <p:nvPr/>
        </p:nvPicPr>
        <p:blipFill rotWithShape="1">
          <a:blip r:embed="rId2">
            <a:extLst>
              <a:ext uri="{28A0092B-C50C-407E-A947-70E740481C1C}">
                <a14:useLocalDpi xmlns:a14="http://schemas.microsoft.com/office/drawing/2010/main" val="0"/>
              </a:ext>
            </a:extLst>
          </a:blip>
          <a:srcRect l="15187" t="67167" r="61440" b="-6912"/>
          <a:stretch/>
        </p:blipFill>
        <p:spPr>
          <a:xfrm>
            <a:off x="264184" y="4240072"/>
            <a:ext cx="3151501" cy="3014476"/>
          </a:xfrm>
          <a:prstGeom prst="rect">
            <a:avLst/>
          </a:prstGeom>
        </p:spPr>
      </p:pic>
      <p:sp>
        <p:nvSpPr>
          <p:cNvPr id="13" name="CuadroTexto 12"/>
          <p:cNvSpPr txBox="1"/>
          <p:nvPr/>
        </p:nvSpPr>
        <p:spPr>
          <a:xfrm>
            <a:off x="5347504" y="556165"/>
            <a:ext cx="3893211" cy="338554"/>
          </a:xfrm>
          <a:prstGeom prst="rect">
            <a:avLst/>
          </a:prstGeom>
          <a:noFill/>
        </p:spPr>
        <p:txBody>
          <a:bodyPr wrap="square" rtlCol="0">
            <a:spAutoFit/>
          </a:bodyPr>
          <a:lstStyle/>
          <a:p>
            <a:r>
              <a:rPr lang="es-MX" sz="1600" dirty="0" smtClean="0"/>
              <a:t>3.3 Borrar el contenido anterior  </a:t>
            </a:r>
            <a:endParaRPr lang="es-MX" sz="1600" dirty="0"/>
          </a:p>
        </p:txBody>
      </p:sp>
      <p:sp>
        <p:nvSpPr>
          <p:cNvPr id="14" name="CuadroTexto 13"/>
          <p:cNvSpPr txBox="1"/>
          <p:nvPr/>
        </p:nvSpPr>
        <p:spPr>
          <a:xfrm>
            <a:off x="5210738" y="3614225"/>
            <a:ext cx="3907495" cy="369332"/>
          </a:xfrm>
          <a:prstGeom prst="rect">
            <a:avLst/>
          </a:prstGeom>
          <a:noFill/>
        </p:spPr>
        <p:txBody>
          <a:bodyPr wrap="square" rtlCol="0">
            <a:spAutoFit/>
          </a:bodyPr>
          <a:lstStyle/>
          <a:p>
            <a:r>
              <a:rPr lang="es-MX" dirty="0" smtClean="0"/>
              <a:t>3.4 Buscar y añadir una </a:t>
            </a:r>
            <a:r>
              <a:rPr lang="es-MX" dirty="0" err="1" smtClean="0"/>
              <a:t>vbox</a:t>
            </a:r>
            <a:r>
              <a:rPr lang="es-MX" dirty="0" smtClean="0"/>
              <a:t> </a:t>
            </a:r>
            <a:endParaRPr lang="es-MX" dirty="0"/>
          </a:p>
        </p:txBody>
      </p:sp>
    </p:spTree>
    <p:extLst>
      <p:ext uri="{BB962C8B-B14F-4D97-AF65-F5344CB8AC3E}">
        <p14:creationId xmlns:p14="http://schemas.microsoft.com/office/powerpoint/2010/main" val="1941902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4743" y="1826696"/>
            <a:ext cx="6217257" cy="3497207"/>
          </a:xfrm>
          <a:prstGeom prst="rect">
            <a:avLst/>
          </a:prstGeom>
        </p:spPr>
      </p:pic>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677" y="1391216"/>
            <a:ext cx="5459244" cy="3070825"/>
          </a:xfrm>
          <a:prstGeom prst="rect">
            <a:avLst/>
          </a:prstGeom>
        </p:spPr>
      </p:pic>
      <p:sp>
        <p:nvSpPr>
          <p:cNvPr id="9" name="CuadroTexto 8"/>
          <p:cNvSpPr txBox="1"/>
          <p:nvPr/>
        </p:nvSpPr>
        <p:spPr>
          <a:xfrm>
            <a:off x="140677" y="457200"/>
            <a:ext cx="4677508" cy="646331"/>
          </a:xfrm>
          <a:prstGeom prst="rect">
            <a:avLst/>
          </a:prstGeom>
          <a:noFill/>
        </p:spPr>
        <p:txBody>
          <a:bodyPr wrap="square" rtlCol="0">
            <a:spAutoFit/>
          </a:bodyPr>
          <a:lstStyle/>
          <a:p>
            <a:r>
              <a:rPr lang="es-MX" dirty="0" smtClean="0"/>
              <a:t>3.5 Agregar un botón y escribir la acción #</a:t>
            </a:r>
            <a:r>
              <a:rPr lang="es-MX" dirty="0" err="1" smtClean="0"/>
              <a:t>OnLanzarDado</a:t>
            </a:r>
            <a:endParaRPr lang="es-MX" dirty="0"/>
          </a:p>
        </p:txBody>
      </p:sp>
      <p:sp>
        <p:nvSpPr>
          <p:cNvPr id="10" name="CuadroTexto 9"/>
          <p:cNvSpPr txBox="1"/>
          <p:nvPr/>
        </p:nvSpPr>
        <p:spPr>
          <a:xfrm>
            <a:off x="6169306" y="937549"/>
            <a:ext cx="4201610" cy="646331"/>
          </a:xfrm>
          <a:prstGeom prst="rect">
            <a:avLst/>
          </a:prstGeom>
          <a:noFill/>
        </p:spPr>
        <p:txBody>
          <a:bodyPr wrap="square" rtlCol="0">
            <a:spAutoFit/>
          </a:bodyPr>
          <a:lstStyle/>
          <a:p>
            <a:r>
              <a:rPr lang="es-MX" dirty="0" smtClean="0"/>
              <a:t>3.6 Agregar un </a:t>
            </a:r>
            <a:r>
              <a:rPr lang="es-MX" dirty="0" err="1" smtClean="0"/>
              <a:t>pane</a:t>
            </a:r>
            <a:r>
              <a:rPr lang="es-MX" dirty="0" smtClean="0"/>
              <a:t> con el id “</a:t>
            </a:r>
            <a:r>
              <a:rPr lang="es-MX" dirty="0" err="1" smtClean="0"/>
              <a:t>panelDado</a:t>
            </a:r>
            <a:r>
              <a:rPr lang="es-MX" dirty="0" smtClean="0"/>
              <a:t>”</a:t>
            </a:r>
            <a:endParaRPr lang="es-MX" dirty="0"/>
          </a:p>
        </p:txBody>
      </p:sp>
    </p:spTree>
    <p:extLst>
      <p:ext uri="{BB962C8B-B14F-4D97-AF65-F5344CB8AC3E}">
        <p14:creationId xmlns:p14="http://schemas.microsoft.com/office/powerpoint/2010/main" val="32779812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26217"/>
            <a:ext cx="5308923" cy="2986269"/>
          </a:xfrm>
          <a:prstGeom prst="rect">
            <a:avLst/>
          </a:prstGeom>
        </p:spPr>
      </p:pic>
      <p:pic>
        <p:nvPicPr>
          <p:cNvPr id="3" name="Imagen 2"/>
          <p:cNvPicPr>
            <a:picLocks noChangeAspect="1"/>
          </p:cNvPicPr>
          <p:nvPr/>
        </p:nvPicPr>
        <p:blipFill rotWithShape="1">
          <a:blip r:embed="rId3">
            <a:extLst>
              <a:ext uri="{28A0092B-C50C-407E-A947-70E740481C1C}">
                <a14:useLocalDpi xmlns:a14="http://schemas.microsoft.com/office/drawing/2010/main" val="0"/>
              </a:ext>
            </a:extLst>
          </a:blip>
          <a:srcRect l="5349" t="1597" r="79089" b="49955"/>
          <a:stretch/>
        </p:blipFill>
        <p:spPr>
          <a:xfrm>
            <a:off x="5308922" y="933619"/>
            <a:ext cx="2419110" cy="4236334"/>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28032" y="2716183"/>
            <a:ext cx="4609078" cy="2592606"/>
          </a:xfrm>
          <a:prstGeom prst="rect">
            <a:avLst/>
          </a:prstGeom>
        </p:spPr>
      </p:pic>
      <p:sp>
        <p:nvSpPr>
          <p:cNvPr id="8" name="CuadroTexto 7"/>
          <p:cNvSpPr txBox="1"/>
          <p:nvPr/>
        </p:nvSpPr>
        <p:spPr>
          <a:xfrm>
            <a:off x="0" y="92730"/>
            <a:ext cx="5208608" cy="923330"/>
          </a:xfrm>
          <a:prstGeom prst="rect">
            <a:avLst/>
          </a:prstGeom>
          <a:noFill/>
        </p:spPr>
        <p:txBody>
          <a:bodyPr wrap="square" rtlCol="0">
            <a:spAutoFit/>
          </a:bodyPr>
          <a:lstStyle/>
          <a:p>
            <a:r>
              <a:rPr lang="es-MX" dirty="0" smtClean="0"/>
              <a:t>3.7 Abrir la opción </a:t>
            </a:r>
            <a:r>
              <a:rPr lang="es-MX" dirty="0" err="1" smtClean="0"/>
              <a:t>view</a:t>
            </a:r>
            <a:r>
              <a:rPr lang="es-MX" dirty="0" smtClean="0"/>
              <a:t> en las opciones de la parte superior de la pantalla y usar la opción show simple </a:t>
            </a:r>
            <a:r>
              <a:rPr lang="es-MX" dirty="0" err="1" smtClean="0"/>
              <a:t>skeleton</a:t>
            </a:r>
            <a:endParaRPr lang="es-MX" dirty="0"/>
          </a:p>
        </p:txBody>
      </p:sp>
      <p:sp>
        <p:nvSpPr>
          <p:cNvPr id="9" name="CuadroTexto 8"/>
          <p:cNvSpPr txBox="1"/>
          <p:nvPr/>
        </p:nvSpPr>
        <p:spPr>
          <a:xfrm>
            <a:off x="7940233" y="1805651"/>
            <a:ext cx="3611301" cy="369332"/>
          </a:xfrm>
          <a:prstGeom prst="rect">
            <a:avLst/>
          </a:prstGeom>
          <a:noFill/>
        </p:spPr>
        <p:txBody>
          <a:bodyPr wrap="square" rtlCol="0">
            <a:spAutoFit/>
          </a:bodyPr>
          <a:lstStyle/>
          <a:p>
            <a:r>
              <a:rPr lang="es-MX" dirty="0" smtClean="0"/>
              <a:t>Copiar lo que aparece </a:t>
            </a:r>
            <a:endParaRPr lang="es-MX" dirty="0"/>
          </a:p>
        </p:txBody>
      </p:sp>
    </p:spTree>
    <p:extLst>
      <p:ext uri="{BB962C8B-B14F-4D97-AF65-F5344CB8AC3E}">
        <p14:creationId xmlns:p14="http://schemas.microsoft.com/office/powerpoint/2010/main" val="3892870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56" y="2058061"/>
            <a:ext cx="5230580" cy="2942201"/>
          </a:xfrm>
          <a:prstGeom prst="rect">
            <a:avLst/>
          </a:prstGeom>
        </p:spPr>
      </p:pic>
      <p:pic>
        <p:nvPicPr>
          <p:cNvPr id="6" name="Image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0572" y="1713131"/>
            <a:ext cx="4609078" cy="2592606"/>
          </a:xfrm>
          <a:prstGeom prst="rect">
            <a:avLst/>
          </a:prstGeom>
        </p:spPr>
      </p:pic>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60720" y="4416988"/>
            <a:ext cx="4609078" cy="2592606"/>
          </a:xfrm>
          <a:prstGeom prst="rect">
            <a:avLst/>
          </a:prstGeom>
        </p:spPr>
      </p:pic>
      <p:sp>
        <p:nvSpPr>
          <p:cNvPr id="8" name="CuadroTexto 7"/>
          <p:cNvSpPr txBox="1"/>
          <p:nvPr/>
        </p:nvSpPr>
        <p:spPr>
          <a:xfrm>
            <a:off x="613458" y="474562"/>
            <a:ext cx="4977114" cy="369332"/>
          </a:xfrm>
          <a:prstGeom prst="rect">
            <a:avLst/>
          </a:prstGeom>
          <a:noFill/>
        </p:spPr>
        <p:txBody>
          <a:bodyPr wrap="square" rtlCol="0">
            <a:spAutoFit/>
          </a:bodyPr>
          <a:lstStyle/>
          <a:p>
            <a:r>
              <a:rPr lang="es-MX" dirty="0" smtClean="0"/>
              <a:t>4. </a:t>
            </a:r>
            <a:r>
              <a:rPr lang="es-MX" dirty="0" err="1" smtClean="0"/>
              <a:t>Logica</a:t>
            </a:r>
            <a:r>
              <a:rPr lang="es-MX" dirty="0" smtClean="0"/>
              <a:t> del sistema</a:t>
            </a:r>
            <a:endParaRPr lang="es-MX" dirty="0"/>
          </a:p>
        </p:txBody>
      </p:sp>
      <p:sp>
        <p:nvSpPr>
          <p:cNvPr id="9" name="CuadroTexto 8"/>
          <p:cNvSpPr txBox="1"/>
          <p:nvPr/>
        </p:nvSpPr>
        <p:spPr>
          <a:xfrm>
            <a:off x="150470" y="1307939"/>
            <a:ext cx="4062714" cy="646331"/>
          </a:xfrm>
          <a:prstGeom prst="rect">
            <a:avLst/>
          </a:prstGeom>
          <a:noFill/>
        </p:spPr>
        <p:txBody>
          <a:bodyPr wrap="square" rtlCol="0">
            <a:spAutoFit/>
          </a:bodyPr>
          <a:lstStyle/>
          <a:p>
            <a:r>
              <a:rPr lang="es-MX" dirty="0" smtClean="0"/>
              <a:t>4.1 Pegar el </a:t>
            </a:r>
            <a:r>
              <a:rPr lang="es-MX" dirty="0" err="1" smtClean="0"/>
              <a:t>eskeleton</a:t>
            </a:r>
            <a:r>
              <a:rPr lang="es-MX" dirty="0" smtClean="0"/>
              <a:t> de </a:t>
            </a:r>
            <a:r>
              <a:rPr lang="es-MX" dirty="0" err="1" smtClean="0"/>
              <a:t>scene</a:t>
            </a:r>
            <a:r>
              <a:rPr lang="es-MX" dirty="0" smtClean="0"/>
              <a:t> </a:t>
            </a:r>
            <a:r>
              <a:rPr lang="es-MX" dirty="0" err="1" smtClean="0"/>
              <a:t>builder</a:t>
            </a:r>
            <a:r>
              <a:rPr lang="es-MX" dirty="0" smtClean="0"/>
              <a:t>  </a:t>
            </a:r>
            <a:endParaRPr lang="es-MX" dirty="0"/>
          </a:p>
        </p:txBody>
      </p:sp>
      <p:sp>
        <p:nvSpPr>
          <p:cNvPr id="10" name="CuadroTexto 9"/>
          <p:cNvSpPr txBox="1"/>
          <p:nvPr/>
        </p:nvSpPr>
        <p:spPr>
          <a:xfrm>
            <a:off x="5760720" y="1066800"/>
            <a:ext cx="4137660" cy="646331"/>
          </a:xfrm>
          <a:prstGeom prst="rect">
            <a:avLst/>
          </a:prstGeom>
          <a:noFill/>
        </p:spPr>
        <p:txBody>
          <a:bodyPr wrap="square" rtlCol="0">
            <a:spAutoFit/>
          </a:bodyPr>
          <a:lstStyle/>
          <a:p>
            <a:r>
              <a:rPr lang="es-MX" dirty="0" smtClean="0"/>
              <a:t>4. Copiar y pegar desde el </a:t>
            </a:r>
            <a:r>
              <a:rPr lang="es-MX" dirty="0" err="1" smtClean="0"/>
              <a:t>git</a:t>
            </a:r>
            <a:r>
              <a:rPr lang="es-MX" dirty="0"/>
              <a:t> </a:t>
            </a:r>
            <a:r>
              <a:rPr lang="es-MX" dirty="0" smtClean="0"/>
              <a:t>lo que se muestra </a:t>
            </a:r>
            <a:r>
              <a:rPr lang="es-MX" dirty="0" err="1" smtClean="0"/>
              <a:t>acontinuacion</a:t>
            </a:r>
            <a:r>
              <a:rPr lang="es-MX" dirty="0" smtClean="0"/>
              <a:t> </a:t>
            </a:r>
            <a:endParaRPr lang="es-MX" dirty="0"/>
          </a:p>
        </p:txBody>
      </p:sp>
    </p:spTree>
    <p:extLst>
      <p:ext uri="{BB962C8B-B14F-4D97-AF65-F5344CB8AC3E}">
        <p14:creationId xmlns:p14="http://schemas.microsoft.com/office/powerpoint/2010/main" val="1741947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9871" y="1426611"/>
            <a:ext cx="4103885" cy="2308435"/>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4273" y="4210591"/>
            <a:ext cx="4103885" cy="2308435"/>
          </a:xfrm>
          <a:prstGeom prst="rect">
            <a:avLst/>
          </a:prstGeom>
        </p:spPr>
      </p:pic>
      <p:pic>
        <p:nvPicPr>
          <p:cNvPr id="4" name="Imagen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920" y="2458948"/>
            <a:ext cx="5129671" cy="2885440"/>
          </a:xfrm>
          <a:prstGeom prst="rect">
            <a:avLst/>
          </a:prstGeom>
        </p:spPr>
      </p:pic>
      <p:sp>
        <p:nvSpPr>
          <p:cNvPr id="5" name="CuadroTexto 4"/>
          <p:cNvSpPr txBox="1"/>
          <p:nvPr/>
        </p:nvSpPr>
        <p:spPr>
          <a:xfrm>
            <a:off x="812800" y="589280"/>
            <a:ext cx="5405120" cy="369332"/>
          </a:xfrm>
          <a:prstGeom prst="rect">
            <a:avLst/>
          </a:prstGeom>
          <a:noFill/>
        </p:spPr>
        <p:txBody>
          <a:bodyPr wrap="square" rtlCol="0">
            <a:spAutoFit/>
          </a:bodyPr>
          <a:lstStyle/>
          <a:p>
            <a:r>
              <a:rPr lang="es-MX" dirty="0" smtClean="0"/>
              <a:t>5.Ejecutar </a:t>
            </a:r>
            <a:endParaRPr lang="es-MX" dirty="0"/>
          </a:p>
        </p:txBody>
      </p:sp>
      <p:sp>
        <p:nvSpPr>
          <p:cNvPr id="6" name="CuadroTexto 5"/>
          <p:cNvSpPr txBox="1"/>
          <p:nvPr/>
        </p:nvSpPr>
        <p:spPr>
          <a:xfrm>
            <a:off x="609600" y="1247115"/>
            <a:ext cx="5364480" cy="923330"/>
          </a:xfrm>
          <a:prstGeom prst="rect">
            <a:avLst/>
          </a:prstGeom>
          <a:noFill/>
        </p:spPr>
        <p:txBody>
          <a:bodyPr wrap="square" rtlCol="0">
            <a:spAutoFit/>
          </a:bodyPr>
          <a:lstStyle/>
          <a:p>
            <a:r>
              <a:rPr lang="es-MX" dirty="0" smtClean="0"/>
              <a:t>5, dentro de </a:t>
            </a:r>
            <a:r>
              <a:rPr lang="es-MX" dirty="0" err="1" smtClean="0"/>
              <a:t>MainApplication</a:t>
            </a:r>
            <a:r>
              <a:rPr lang="es-MX" dirty="0" smtClean="0"/>
              <a:t> dar </a:t>
            </a:r>
            <a:r>
              <a:rPr lang="es-MX" dirty="0" err="1" smtClean="0"/>
              <a:t>click</a:t>
            </a:r>
            <a:r>
              <a:rPr lang="es-MX" dirty="0" smtClean="0"/>
              <a:t> en el botón en forma de triangulo verde en la parte superior de la pantalla</a:t>
            </a:r>
            <a:endParaRPr lang="es-MX" dirty="0"/>
          </a:p>
        </p:txBody>
      </p:sp>
      <p:pic>
        <p:nvPicPr>
          <p:cNvPr id="7" name="Imagen 6"/>
          <p:cNvPicPr>
            <a:picLocks noChangeAspect="1"/>
          </p:cNvPicPr>
          <p:nvPr/>
        </p:nvPicPr>
        <p:blipFill rotWithShape="1">
          <a:blip r:embed="rId4">
            <a:extLst>
              <a:ext uri="{28A0092B-C50C-407E-A947-70E740481C1C}">
                <a14:useLocalDpi xmlns:a14="http://schemas.microsoft.com/office/drawing/2010/main" val="0"/>
              </a:ext>
            </a:extLst>
          </a:blip>
          <a:srcRect l="54071" r="28967" b="95460"/>
          <a:stretch/>
        </p:blipFill>
        <p:spPr>
          <a:xfrm>
            <a:off x="869582" y="5663560"/>
            <a:ext cx="4112272" cy="619191"/>
          </a:xfrm>
          <a:prstGeom prst="rect">
            <a:avLst/>
          </a:prstGeom>
        </p:spPr>
      </p:pic>
    </p:spTree>
    <p:extLst>
      <p:ext uri="{BB962C8B-B14F-4D97-AF65-F5344CB8AC3E}">
        <p14:creationId xmlns:p14="http://schemas.microsoft.com/office/powerpoint/2010/main" val="33305359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err="1" smtClean="0"/>
              <a:t>Conclusion</a:t>
            </a:r>
            <a:r>
              <a:rPr lang="es-MX" dirty="0" smtClean="0"/>
              <a:t> </a:t>
            </a:r>
            <a:endParaRPr lang="es-MX" dirty="0"/>
          </a:p>
        </p:txBody>
      </p:sp>
      <p:sp>
        <p:nvSpPr>
          <p:cNvPr id="3" name="Marcador de contenido 2"/>
          <p:cNvSpPr>
            <a:spLocks noGrp="1"/>
          </p:cNvSpPr>
          <p:nvPr>
            <p:ph idx="1"/>
          </p:nvPr>
        </p:nvSpPr>
        <p:spPr/>
        <p:txBody>
          <a:bodyPr/>
          <a:lstStyle/>
          <a:p>
            <a:r>
              <a:rPr lang="es-MX" dirty="0"/>
              <a:t>Al finalizar la práctica se comprobó que los tres lenguajes son capaces de simular correctamente el lanzamiento de un dado, obteniendo resultados aleatorios entre 1 y 6 con una distribución uniforme en un número grande de lanzamientos. Se concluyó que R facilita el análisis posterior de los resultados mediante gráficos y tablas de frecuencia, Python permite una implementación más rápida y legible con pocas líneas de código, y Java, aunque requiere más líneas, ofrece mayor control y escalabilidad del programa. En general, la práctica cumplió su objetivo de reforzar los conocimientos de generación de números aleatorios y demostró que la elección del lenguaje depende del enfoque del proyecto: estadístico, de desarrollo rápido o de estructura robusta.</a:t>
            </a:r>
          </a:p>
        </p:txBody>
      </p:sp>
    </p:spTree>
    <p:extLst>
      <p:ext uri="{BB962C8B-B14F-4D97-AF65-F5344CB8AC3E}">
        <p14:creationId xmlns:p14="http://schemas.microsoft.com/office/powerpoint/2010/main" val="3320925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Enlaces </a:t>
            </a:r>
            <a:r>
              <a:rPr lang="es-MX" dirty="0" err="1" smtClean="0"/>
              <a:t>git</a:t>
            </a:r>
            <a:r>
              <a:rPr lang="es-MX" dirty="0" smtClean="0"/>
              <a:t> </a:t>
            </a:r>
            <a:endParaRPr lang="es-MX" dirty="0"/>
          </a:p>
        </p:txBody>
      </p:sp>
      <p:sp>
        <p:nvSpPr>
          <p:cNvPr id="3" name="Marcador de contenido 2"/>
          <p:cNvSpPr>
            <a:spLocks noGrp="1"/>
          </p:cNvSpPr>
          <p:nvPr>
            <p:ph idx="1"/>
          </p:nvPr>
        </p:nvSpPr>
        <p:spPr/>
        <p:txBody>
          <a:bodyPr/>
          <a:lstStyle/>
          <a:p>
            <a:r>
              <a:rPr lang="es-MX" dirty="0">
                <a:hlinkClick r:id="rId2"/>
              </a:rPr>
              <a:t>https://</a:t>
            </a:r>
            <a:r>
              <a:rPr lang="es-MX" dirty="0" smtClean="0">
                <a:hlinkClick r:id="rId2"/>
              </a:rPr>
              <a:t>github.com/hectoranzueto4-byte/SIM-Tema-2_Hector-Yazid-Anzueto-Lopez</a:t>
            </a:r>
            <a:r>
              <a:rPr lang="es-MX" dirty="0" smtClean="0"/>
              <a:t> </a:t>
            </a:r>
          </a:p>
          <a:p>
            <a:r>
              <a:rPr lang="es-MX"/>
              <a:t>https://github.com/hectoranzueto4-byte/SimulacionDado</a:t>
            </a:r>
            <a:endParaRPr lang="es-MX" dirty="0"/>
          </a:p>
        </p:txBody>
      </p:sp>
    </p:spTree>
    <p:extLst>
      <p:ext uri="{BB962C8B-B14F-4D97-AF65-F5344CB8AC3E}">
        <p14:creationId xmlns:p14="http://schemas.microsoft.com/office/powerpoint/2010/main" val="19693504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334</TotalTime>
  <Words>1011</Words>
  <Application>Microsoft Office PowerPoint</Application>
  <PresentationFormat>Panorámica</PresentationFormat>
  <Paragraphs>73</Paragraphs>
  <Slides>27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Century Gothic</vt:lpstr>
      <vt:lpstr>Wingdings 3</vt:lpstr>
      <vt:lpstr>Ion</vt:lpstr>
      <vt:lpstr>Presentación de PowerPoint</vt:lpstr>
      <vt:lpstr>Introduccion </vt:lpstr>
      <vt:lpstr>Justificacion </vt:lpstr>
      <vt:lpstr>Simulador Python</vt:lpstr>
      <vt:lpstr>Presentación de PowerPoint</vt:lpstr>
      <vt:lpstr>Presentación de PowerPoint</vt:lpstr>
      <vt:lpstr>Presentación de PowerPoint</vt:lpstr>
      <vt:lpstr>Presentación de PowerPoint</vt:lpstr>
      <vt:lpstr>Presentación de PowerPoint</vt:lpstr>
      <vt:lpstr>Simulador Rstudio</vt:lpstr>
      <vt:lpstr>Presentación de PowerPoint</vt:lpstr>
      <vt:lpstr>Presentación de PowerPoint</vt:lpstr>
      <vt:lpstr>Presentación de PowerPoint</vt:lpstr>
      <vt:lpstr>Presentación de PowerPoint</vt:lpstr>
      <vt:lpstr>Presentación de PowerPoint</vt:lpstr>
      <vt:lpstr>Inteliji idea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Conclusion </vt:lpstr>
      <vt:lpstr>Enlaces git </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HP AMD</dc:creator>
  <cp:lastModifiedBy>HP AMD</cp:lastModifiedBy>
  <cp:revision>25</cp:revision>
  <dcterms:created xsi:type="dcterms:W3CDTF">2026-09-01T05:36:56Z</dcterms:created>
  <dcterms:modified xsi:type="dcterms:W3CDTF">2026-09-02T00:00:02Z</dcterms:modified>
</cp:coreProperties>
</file>