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8" r:id="rId2"/>
    <p:sldId id="262" r:id="rId3"/>
    <p:sldId id="263" r:id="rId4"/>
    <p:sldId id="259" r:id="rId5"/>
    <p:sldId id="260" r:id="rId6"/>
    <p:sldId id="261"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9796027F-7875-4030-9381-8BD8C4F21935}"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9/1/2026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9/1/2026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7" name="Date Placeholder 4"/>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4509A250-FF31-4206-8172-F9D3106AACB1}" type="datetimeFigureOut">
              <a:rPr lang="en-US" dirty="0"/>
              <a:t>9/1/2026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4509A250-FF31-4206-8172-F9D3106AACB1}" type="datetimeFigureOut">
              <a:rPr lang="en-US" dirty="0"/>
              <a:t>9/1/2026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smtClean="0"/>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smtClean="0"/>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smtClean="0"/>
              <a:t>Editar el estilo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9/1/2026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819269" y="1696559"/>
            <a:ext cx="6096000" cy="4801314"/>
          </a:xfrm>
          <a:prstGeom prst="rect">
            <a:avLst/>
          </a:prstGeom>
        </p:spPr>
        <p:txBody>
          <a:bodyPr>
            <a:spAutoFit/>
          </a:bodyPr>
          <a:lstStyle/>
          <a:p>
            <a:pPr lvl="0" algn="ctr" defTabSz="914400" eaLnBrk="0" fontAlgn="base" hangingPunct="0">
              <a:spcBef>
                <a:spcPct val="0"/>
              </a:spcBef>
              <a:spcAft>
                <a:spcPct val="0"/>
              </a:spcAft>
            </a:pPr>
            <a:r>
              <a:rPr lang="es-ES" altLang="es-MX" b="1" dirty="0">
                <a:latin typeface="Arial" panose="020B0604020202020204" pitchFamily="34" charset="0"/>
                <a:ea typeface="Calibri" panose="020F0502020204030204" pitchFamily="34" charset="0"/>
                <a:cs typeface="Arial" panose="020B0604020202020204" pitchFamily="34" charset="0"/>
              </a:rPr>
              <a:t>Instituto Tecnológico de Frontera Comalapa Modalidad Mixta</a:t>
            </a:r>
            <a:endParaRPr lang="es-MX" altLang="es-MX" sz="900" dirty="0"/>
          </a:p>
          <a:p>
            <a:pPr lvl="0" algn="ctr" defTabSz="914400" eaLnBrk="0" fontAlgn="base" hangingPunct="0">
              <a:spcBef>
                <a:spcPct val="0"/>
              </a:spcBef>
              <a:spcAft>
                <a:spcPct val="0"/>
              </a:spcAft>
            </a:pPr>
            <a:r>
              <a:rPr lang="es-ES" altLang="es-MX" b="1" dirty="0">
                <a:latin typeface="Arial" panose="020B0604020202020204" pitchFamily="34" charset="0"/>
                <a:ea typeface="Calibri" panose="020F0502020204030204" pitchFamily="34" charset="0"/>
                <a:cs typeface="Arial" panose="020B0604020202020204" pitchFamily="34" charset="0"/>
              </a:rPr>
              <a:t>Materia:</a:t>
            </a:r>
            <a:endParaRPr lang="es-MX" altLang="es-MX" sz="900" dirty="0"/>
          </a:p>
          <a:p>
            <a:pPr lvl="0" algn="ctr" defTabSz="914400" eaLnBrk="0" fontAlgn="base" hangingPunct="0">
              <a:spcBef>
                <a:spcPct val="0"/>
              </a:spcBef>
              <a:spcAft>
                <a:spcPct val="0"/>
              </a:spcAft>
            </a:pPr>
            <a:r>
              <a:rPr lang="es-ES" altLang="es-MX" dirty="0" err="1">
                <a:latin typeface="Arial" panose="020B0604020202020204" pitchFamily="34" charset="0"/>
                <a:ea typeface="Calibri" panose="020F0502020204030204" pitchFamily="34" charset="0"/>
                <a:cs typeface="Arial" panose="020B0604020202020204" pitchFamily="34" charset="0"/>
              </a:rPr>
              <a:t>Simulacion</a:t>
            </a:r>
            <a:endParaRPr lang="es-MX" altLang="es-MX" sz="900" dirty="0"/>
          </a:p>
          <a:p>
            <a:pPr lvl="0" algn="ctr" defTabSz="914400" eaLnBrk="0" fontAlgn="base" hangingPunct="0">
              <a:spcBef>
                <a:spcPct val="0"/>
              </a:spcBef>
              <a:spcAft>
                <a:spcPct val="0"/>
              </a:spcAft>
            </a:pPr>
            <a:r>
              <a:rPr lang="es-ES" altLang="es-MX" b="1" dirty="0">
                <a:latin typeface="Arial" panose="020B0604020202020204" pitchFamily="34" charset="0"/>
                <a:ea typeface="Calibri" panose="020F0502020204030204" pitchFamily="34" charset="0"/>
                <a:cs typeface="Arial" panose="020B0604020202020204" pitchFamily="34" charset="0"/>
              </a:rPr>
              <a:t>Semestre: </a:t>
            </a:r>
            <a:r>
              <a:rPr lang="es-ES" altLang="es-MX" dirty="0">
                <a:latin typeface="Arial" panose="020B0604020202020204" pitchFamily="34" charset="0"/>
                <a:ea typeface="Calibri" panose="020F0502020204030204" pitchFamily="34" charset="0"/>
                <a:cs typeface="Arial" panose="020B0604020202020204" pitchFamily="34" charset="0"/>
              </a:rPr>
              <a:t>Quinto</a:t>
            </a:r>
            <a:endParaRPr lang="es-MX" altLang="es-MX" sz="900" dirty="0"/>
          </a:p>
          <a:p>
            <a:pPr lvl="0" algn="ctr" defTabSz="914400" eaLnBrk="0" fontAlgn="base" hangingPunct="0">
              <a:spcBef>
                <a:spcPct val="0"/>
              </a:spcBef>
              <a:spcAft>
                <a:spcPct val="0"/>
              </a:spcAft>
            </a:pPr>
            <a:r>
              <a:rPr lang="es-ES" altLang="es-MX" dirty="0">
                <a:latin typeface="Arial" panose="020B0604020202020204" pitchFamily="34" charset="0"/>
                <a:ea typeface="Calibri" panose="020F0502020204030204" pitchFamily="34" charset="0"/>
                <a:cs typeface="Arial" panose="020B0604020202020204" pitchFamily="34" charset="0"/>
              </a:rPr>
              <a:t> </a:t>
            </a:r>
            <a:r>
              <a:rPr lang="es-ES" altLang="es-MX" b="1" dirty="0">
                <a:latin typeface="Arial" panose="020B0604020202020204" pitchFamily="34" charset="0"/>
                <a:ea typeface="Calibri" panose="020F0502020204030204" pitchFamily="34" charset="0"/>
                <a:cs typeface="Arial" panose="020B0604020202020204" pitchFamily="34" charset="0"/>
              </a:rPr>
              <a:t>Carrera:</a:t>
            </a:r>
            <a:endParaRPr lang="es-MX" altLang="es-MX" sz="900" dirty="0"/>
          </a:p>
          <a:p>
            <a:pPr lvl="0" algn="ctr" defTabSz="914400" eaLnBrk="0" fontAlgn="base" hangingPunct="0">
              <a:spcBef>
                <a:spcPct val="0"/>
              </a:spcBef>
              <a:spcAft>
                <a:spcPct val="0"/>
              </a:spcAft>
            </a:pPr>
            <a:r>
              <a:rPr lang="es-ES" altLang="es-MX" dirty="0">
                <a:latin typeface="Arial" panose="020B0604020202020204" pitchFamily="34" charset="0"/>
                <a:ea typeface="Calibri" panose="020F0502020204030204" pitchFamily="34" charset="0"/>
                <a:cs typeface="Arial" panose="020B0604020202020204" pitchFamily="34" charset="0"/>
              </a:rPr>
              <a:t>Ingeniería en sistemas computacionales</a:t>
            </a:r>
            <a:endParaRPr lang="es-MX" altLang="es-MX" sz="900" dirty="0"/>
          </a:p>
          <a:p>
            <a:pPr lvl="0" algn="ctr" defTabSz="914400" eaLnBrk="0" fontAlgn="base" hangingPunct="0">
              <a:spcBef>
                <a:spcPct val="0"/>
              </a:spcBef>
              <a:spcAft>
                <a:spcPct val="0"/>
              </a:spcAft>
            </a:pPr>
            <a:r>
              <a:rPr lang="es-ES" altLang="es-MX" b="1" dirty="0">
                <a:latin typeface="Arial" panose="020B0604020202020204" pitchFamily="34" charset="0"/>
                <a:ea typeface="Calibri" panose="020F0502020204030204" pitchFamily="34" charset="0"/>
                <a:cs typeface="Arial" panose="020B0604020202020204" pitchFamily="34" charset="0"/>
              </a:rPr>
              <a:t>Numero de control:</a:t>
            </a:r>
            <a:endParaRPr lang="es-MX" altLang="es-MX" sz="900" dirty="0"/>
          </a:p>
          <a:p>
            <a:pPr lvl="0" algn="ctr" defTabSz="914400" eaLnBrk="0" fontAlgn="base" hangingPunct="0">
              <a:spcBef>
                <a:spcPct val="0"/>
              </a:spcBef>
              <a:spcAft>
                <a:spcPct val="0"/>
              </a:spcAft>
            </a:pPr>
            <a:r>
              <a:rPr lang="es-ES" altLang="es-MX" dirty="0">
                <a:latin typeface="Arial" panose="020B0604020202020204" pitchFamily="34" charset="0"/>
                <a:ea typeface="Calibri" panose="020F0502020204030204" pitchFamily="34" charset="0"/>
                <a:cs typeface="Arial" panose="020B0604020202020204" pitchFamily="34" charset="0"/>
              </a:rPr>
              <a:t>241260005</a:t>
            </a:r>
            <a:endParaRPr lang="es-MX" altLang="es-MX" sz="900" dirty="0"/>
          </a:p>
          <a:p>
            <a:pPr lvl="0" algn="ctr" defTabSz="914400" eaLnBrk="0" fontAlgn="base" hangingPunct="0">
              <a:spcBef>
                <a:spcPct val="0"/>
              </a:spcBef>
              <a:spcAft>
                <a:spcPct val="0"/>
              </a:spcAft>
            </a:pPr>
            <a:r>
              <a:rPr lang="es-ES" altLang="es-MX" b="1" dirty="0">
                <a:latin typeface="Arial" panose="020B0604020202020204" pitchFamily="34" charset="0"/>
                <a:ea typeface="Calibri" panose="020F0502020204030204" pitchFamily="34" charset="0"/>
                <a:cs typeface="Arial" panose="020B0604020202020204" pitchFamily="34" charset="0"/>
              </a:rPr>
              <a:t>Nombre del alumno:</a:t>
            </a:r>
            <a:endParaRPr lang="es-MX" altLang="es-MX" sz="900" dirty="0"/>
          </a:p>
          <a:p>
            <a:pPr lvl="0" algn="ctr" defTabSz="914400" eaLnBrk="0" fontAlgn="base" hangingPunct="0">
              <a:spcBef>
                <a:spcPct val="0"/>
              </a:spcBef>
              <a:spcAft>
                <a:spcPct val="0"/>
              </a:spcAft>
            </a:pPr>
            <a:r>
              <a:rPr lang="es-ES" altLang="es-MX" b="1" dirty="0">
                <a:latin typeface="Arial" panose="020B0604020202020204" pitchFamily="34" charset="0"/>
                <a:ea typeface="Calibri" panose="020F0502020204030204" pitchFamily="34" charset="0"/>
                <a:cs typeface="Arial" panose="020B0604020202020204" pitchFamily="34" charset="0"/>
              </a:rPr>
              <a:t> </a:t>
            </a:r>
            <a:r>
              <a:rPr lang="es-ES" altLang="es-MX" dirty="0" err="1">
                <a:latin typeface="Arial" panose="020B0604020202020204" pitchFamily="34" charset="0"/>
                <a:ea typeface="Calibri" panose="020F0502020204030204" pitchFamily="34" charset="0"/>
                <a:cs typeface="Arial" panose="020B0604020202020204" pitchFamily="34" charset="0"/>
              </a:rPr>
              <a:t>Hector</a:t>
            </a:r>
            <a:r>
              <a:rPr lang="es-ES" altLang="es-MX" dirty="0">
                <a:latin typeface="Arial" panose="020B0604020202020204" pitchFamily="34" charset="0"/>
                <a:ea typeface="Calibri" panose="020F0502020204030204" pitchFamily="34" charset="0"/>
                <a:cs typeface="Arial" panose="020B0604020202020204" pitchFamily="34" charset="0"/>
              </a:rPr>
              <a:t> </a:t>
            </a:r>
            <a:r>
              <a:rPr lang="es-ES" altLang="es-MX" dirty="0" err="1">
                <a:latin typeface="Arial" panose="020B0604020202020204" pitchFamily="34" charset="0"/>
                <a:ea typeface="Calibri" panose="020F0502020204030204" pitchFamily="34" charset="0"/>
                <a:cs typeface="Arial" panose="020B0604020202020204" pitchFamily="34" charset="0"/>
              </a:rPr>
              <a:t>Yazid</a:t>
            </a:r>
            <a:r>
              <a:rPr lang="es-ES" altLang="es-MX" dirty="0">
                <a:latin typeface="Arial" panose="020B0604020202020204" pitchFamily="34" charset="0"/>
                <a:ea typeface="Calibri" panose="020F0502020204030204" pitchFamily="34" charset="0"/>
                <a:cs typeface="Arial" panose="020B0604020202020204" pitchFamily="34" charset="0"/>
              </a:rPr>
              <a:t> </a:t>
            </a:r>
            <a:r>
              <a:rPr lang="es-ES" altLang="es-MX" dirty="0" err="1">
                <a:latin typeface="Arial" panose="020B0604020202020204" pitchFamily="34" charset="0"/>
                <a:ea typeface="Calibri" panose="020F0502020204030204" pitchFamily="34" charset="0"/>
                <a:cs typeface="Arial" panose="020B0604020202020204" pitchFamily="34" charset="0"/>
              </a:rPr>
              <a:t>Anzueto</a:t>
            </a:r>
            <a:r>
              <a:rPr lang="es-ES" altLang="es-MX" dirty="0">
                <a:latin typeface="Arial" panose="020B0604020202020204" pitchFamily="34" charset="0"/>
                <a:ea typeface="Calibri" panose="020F0502020204030204" pitchFamily="34" charset="0"/>
                <a:cs typeface="Arial" panose="020B0604020202020204" pitchFamily="34" charset="0"/>
              </a:rPr>
              <a:t> </a:t>
            </a:r>
            <a:r>
              <a:rPr lang="es-ES" altLang="es-MX" dirty="0" err="1">
                <a:latin typeface="Arial" panose="020B0604020202020204" pitchFamily="34" charset="0"/>
                <a:ea typeface="Calibri" panose="020F0502020204030204" pitchFamily="34" charset="0"/>
                <a:cs typeface="Arial" panose="020B0604020202020204" pitchFamily="34" charset="0"/>
              </a:rPr>
              <a:t>Lopez</a:t>
            </a:r>
            <a:r>
              <a:rPr lang="es-ES" altLang="es-MX" dirty="0">
                <a:latin typeface="Arial" panose="020B0604020202020204" pitchFamily="34" charset="0"/>
                <a:ea typeface="Calibri" panose="020F0502020204030204" pitchFamily="34" charset="0"/>
                <a:cs typeface="Arial" panose="020B0604020202020204" pitchFamily="34" charset="0"/>
              </a:rPr>
              <a:t> </a:t>
            </a:r>
            <a:endParaRPr lang="es-MX" altLang="es-MX" sz="900" dirty="0"/>
          </a:p>
          <a:p>
            <a:pPr lvl="0" algn="ctr" defTabSz="914400" eaLnBrk="0" fontAlgn="base" hangingPunct="0">
              <a:spcBef>
                <a:spcPct val="0"/>
              </a:spcBef>
              <a:spcAft>
                <a:spcPct val="0"/>
              </a:spcAft>
            </a:pPr>
            <a:r>
              <a:rPr lang="es-ES" altLang="es-MX" b="1" dirty="0">
                <a:latin typeface="Arial" panose="020B0604020202020204" pitchFamily="34" charset="0"/>
                <a:ea typeface="Calibri" panose="020F0502020204030204" pitchFamily="34" charset="0"/>
                <a:cs typeface="Arial" panose="020B0604020202020204" pitchFamily="34" charset="0"/>
              </a:rPr>
              <a:t>Nombre del docente:</a:t>
            </a:r>
            <a:endParaRPr lang="es-MX" altLang="es-MX" sz="900" dirty="0"/>
          </a:p>
          <a:p>
            <a:pPr lvl="0" algn="ctr" defTabSz="914400" eaLnBrk="0" fontAlgn="base" hangingPunct="0">
              <a:spcBef>
                <a:spcPct val="0"/>
              </a:spcBef>
              <a:spcAft>
                <a:spcPct val="0"/>
              </a:spcAft>
            </a:pPr>
            <a:r>
              <a:rPr lang="es-ES" altLang="es-MX" dirty="0">
                <a:latin typeface="Arial" panose="020B0604020202020204" pitchFamily="34" charset="0"/>
                <a:ea typeface="Calibri" panose="020F0502020204030204" pitchFamily="34" charset="0"/>
                <a:cs typeface="Arial" panose="020B0604020202020204" pitchFamily="34" charset="0"/>
              </a:rPr>
              <a:t>Francisco Javier Velázquez Mingo</a:t>
            </a:r>
            <a:endParaRPr lang="es-MX" altLang="es-MX" sz="900" dirty="0"/>
          </a:p>
          <a:p>
            <a:pPr lvl="0" algn="ctr" defTabSz="914400" eaLnBrk="0" fontAlgn="base" hangingPunct="0">
              <a:spcBef>
                <a:spcPct val="0"/>
              </a:spcBef>
              <a:spcAft>
                <a:spcPct val="0"/>
              </a:spcAft>
            </a:pPr>
            <a:r>
              <a:rPr lang="es-ES" altLang="es-MX" b="1" dirty="0">
                <a:latin typeface="Arial" panose="020B0604020202020204" pitchFamily="34" charset="0"/>
                <a:ea typeface="Calibri" panose="020F0502020204030204" pitchFamily="34" charset="0"/>
                <a:cs typeface="Arial" panose="020B0604020202020204" pitchFamily="34" charset="0"/>
              </a:rPr>
              <a:t>Nombre del trabajo:</a:t>
            </a:r>
            <a:endParaRPr lang="es-MX" altLang="es-MX" sz="900" dirty="0"/>
          </a:p>
          <a:p>
            <a:pPr lvl="0" algn="ctr" defTabSz="914400" eaLnBrk="0" fontAlgn="base" hangingPunct="0">
              <a:spcBef>
                <a:spcPct val="0"/>
              </a:spcBef>
              <a:spcAft>
                <a:spcPct val="0"/>
              </a:spcAft>
            </a:pPr>
            <a:r>
              <a:rPr lang="es-ES" altLang="es-MX" dirty="0">
                <a:latin typeface="Arial" panose="020B0604020202020204" pitchFamily="34" charset="0"/>
                <a:ea typeface="Calibri" panose="020F0502020204030204" pitchFamily="34" charset="0"/>
                <a:cs typeface="Arial" panose="020B0604020202020204" pitchFamily="34" charset="0"/>
              </a:rPr>
              <a:t>Actividad </a:t>
            </a:r>
            <a:r>
              <a:rPr lang="es-ES" altLang="es-MX" dirty="0" smtClean="0">
                <a:latin typeface="Arial" panose="020B0604020202020204" pitchFamily="34" charset="0"/>
                <a:ea typeface="Calibri" panose="020F0502020204030204" pitchFamily="34" charset="0"/>
                <a:cs typeface="Arial" panose="020B0604020202020204" pitchFamily="34" charset="0"/>
              </a:rPr>
              <a:t>2.3 Banco </a:t>
            </a:r>
            <a:r>
              <a:rPr lang="es-ES" altLang="es-MX" smtClean="0">
                <a:latin typeface="Arial" panose="020B0604020202020204" pitchFamily="34" charset="0"/>
                <a:ea typeface="Calibri" panose="020F0502020204030204" pitchFamily="34" charset="0"/>
                <a:cs typeface="Arial" panose="020B0604020202020204" pitchFamily="34" charset="0"/>
              </a:rPr>
              <a:t>de ejercicios.</a:t>
            </a:r>
            <a:endParaRPr lang="es-MX" altLang="es-MX" sz="900" dirty="0"/>
          </a:p>
          <a:p>
            <a:pPr lvl="0" algn="ctr" defTabSz="914400" eaLnBrk="0" fontAlgn="base" hangingPunct="0">
              <a:spcBef>
                <a:spcPct val="0"/>
              </a:spcBef>
              <a:spcAft>
                <a:spcPct val="0"/>
              </a:spcAft>
            </a:pPr>
            <a:r>
              <a:rPr lang="es-ES" altLang="es-MX" b="1" dirty="0">
                <a:latin typeface="Arial" panose="020B0604020202020204" pitchFamily="34" charset="0"/>
                <a:ea typeface="Calibri" panose="020F0502020204030204" pitchFamily="34" charset="0"/>
                <a:cs typeface="Arial" panose="020B0604020202020204" pitchFamily="34" charset="0"/>
              </a:rPr>
              <a:t>Fecha de entrega:</a:t>
            </a:r>
            <a:endParaRPr lang="es-MX" altLang="es-MX" sz="900" dirty="0"/>
          </a:p>
          <a:p>
            <a:pPr lvl="0" algn="ctr" defTabSz="914400" eaLnBrk="0" fontAlgn="base" hangingPunct="0">
              <a:spcBef>
                <a:spcPct val="0"/>
              </a:spcBef>
              <a:spcAft>
                <a:spcPct val="0"/>
              </a:spcAft>
            </a:pPr>
            <a:r>
              <a:rPr lang="es-ES" altLang="es-MX" dirty="0">
                <a:latin typeface="Arial" panose="020B0604020202020204" pitchFamily="34" charset="0"/>
                <a:ea typeface="Calibri" panose="020F0502020204030204" pitchFamily="34" charset="0"/>
                <a:cs typeface="Arial" panose="020B0604020202020204" pitchFamily="34" charset="0"/>
              </a:rPr>
              <a:t>Frontera Comalapa, Chiapas a </a:t>
            </a:r>
            <a:r>
              <a:rPr lang="es-ES" altLang="es-MX" dirty="0" smtClean="0">
                <a:latin typeface="Arial" panose="020B0604020202020204" pitchFamily="34" charset="0"/>
                <a:ea typeface="Calibri" panose="020F0502020204030204" pitchFamily="34" charset="0"/>
                <a:cs typeface="Arial" panose="020B0604020202020204" pitchFamily="34" charset="0"/>
              </a:rPr>
              <a:t>31 </a:t>
            </a:r>
            <a:r>
              <a:rPr lang="es-ES" altLang="es-MX" dirty="0">
                <a:latin typeface="Arial" panose="020B0604020202020204" pitchFamily="34" charset="0"/>
                <a:ea typeface="Calibri" panose="020F0502020204030204" pitchFamily="34" charset="0"/>
                <a:cs typeface="Arial" panose="020B0604020202020204" pitchFamily="34" charset="0"/>
              </a:rPr>
              <a:t>de agosto de 2026</a:t>
            </a:r>
            <a:endParaRPr lang="es-ES" altLang="es-MX" sz="2000" dirty="0">
              <a:latin typeface="Arial" panose="020B0604020202020204" pitchFamily="34" charset="0"/>
            </a:endParaRPr>
          </a:p>
        </p:txBody>
      </p:sp>
      <p:pic>
        <p:nvPicPr>
          <p:cNvPr id="3" name="Image 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8144" y="123092"/>
            <a:ext cx="6318250" cy="110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2807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Introducción </a:t>
            </a:r>
            <a:endParaRPr lang="es-MX" dirty="0"/>
          </a:p>
        </p:txBody>
      </p:sp>
      <p:sp>
        <p:nvSpPr>
          <p:cNvPr id="3" name="Marcador de contenido 2"/>
          <p:cNvSpPr>
            <a:spLocks noGrp="1"/>
          </p:cNvSpPr>
          <p:nvPr>
            <p:ph idx="1"/>
          </p:nvPr>
        </p:nvSpPr>
        <p:spPr/>
        <p:txBody>
          <a:bodyPr/>
          <a:lstStyle/>
          <a:p>
            <a:r>
              <a:rPr lang="es-MX" dirty="0"/>
              <a:t>El presente banco de ejercicios tiene como objetivo reforzar el aprendizaje de la lógica de programación y el pensamiento probabilístico mediante la simulación del lanzamiento de un dado. Se plantea una serie de ejercicios progresivos, de nivel básico a intermedio, desarrollados en tres lenguajes: Java, Python y lenguaje R. Los ejercicios abarcan desde la simulación de un solo lanzamiento, hasta la generación de miles de lanzamientos, el cálculo de frecuencias, la representación gráfica y la validación de la distribución uniforme. Este banco busca que el estudiante no solo codifique, sino que analice los resultados y compare el comportamiento de los generadores de números aleatorios en cada entorno de programación.</a:t>
            </a:r>
          </a:p>
        </p:txBody>
      </p:sp>
    </p:spTree>
    <p:extLst>
      <p:ext uri="{BB962C8B-B14F-4D97-AF65-F5344CB8AC3E}">
        <p14:creationId xmlns:p14="http://schemas.microsoft.com/office/powerpoint/2010/main" val="3034201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Justificación </a:t>
            </a:r>
            <a:endParaRPr lang="es-MX" dirty="0"/>
          </a:p>
        </p:txBody>
      </p:sp>
      <p:sp>
        <p:nvSpPr>
          <p:cNvPr id="3" name="Marcador de contenido 2"/>
          <p:cNvSpPr>
            <a:spLocks noGrp="1"/>
          </p:cNvSpPr>
          <p:nvPr>
            <p:ph idx="1"/>
          </p:nvPr>
        </p:nvSpPr>
        <p:spPr/>
        <p:txBody>
          <a:bodyPr>
            <a:normAutofit fontScale="92500"/>
          </a:bodyPr>
          <a:lstStyle/>
          <a:p>
            <a:r>
              <a:rPr lang="es-MX" dirty="0"/>
              <a:t>La creación de este banco de ejercicios se justifica por la necesidad de contar con material práctico que permita al estudiante aplicar conceptos de programación estructurada, programación orientada a objetos y análisis estadístico sobre un mismo caso de estudio. La simulación de un dado es un problema clásico que sirve como base para temas avanzados como simulación de Monte Carlo, juegos de azar y modelado de eventos </a:t>
            </a:r>
            <a:r>
              <a:rPr lang="es-MX" dirty="0" err="1"/>
              <a:t>aleatorios.Se</a:t>
            </a:r>
            <a:r>
              <a:rPr lang="es-MX" dirty="0"/>
              <a:t> eligieron tres lenguajes por su relevancia académica y profesional: Java, por su estructura robusta y su uso en el desarrollo de lógica y control de flujo; Python, por su sintaxis accesible y su amplia aplicación en ciencia de datos y simulación; y R, por ser el estándar en el análisis estadístico y la visualización de datos. Contar con ejercicios en los tres lenguajes permite desarrollar competencias versátiles y entender que la lógica es transferible, aunque cambie la sintaxis.</a:t>
            </a:r>
          </a:p>
        </p:txBody>
      </p:sp>
    </p:spTree>
    <p:extLst>
      <p:ext uri="{BB962C8B-B14F-4D97-AF65-F5344CB8AC3E}">
        <p14:creationId xmlns:p14="http://schemas.microsoft.com/office/powerpoint/2010/main" val="3042289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160585" y="422031"/>
            <a:ext cx="9205546" cy="369332"/>
          </a:xfrm>
          <a:prstGeom prst="rect">
            <a:avLst/>
          </a:prstGeom>
          <a:noFill/>
        </p:spPr>
        <p:txBody>
          <a:bodyPr wrap="square" rtlCol="0">
            <a:spAutoFit/>
          </a:bodyPr>
          <a:lstStyle/>
          <a:p>
            <a:r>
              <a:rPr lang="es-MX" dirty="0" smtClean="0"/>
              <a:t>Lanzamiento de dados en simulador de </a:t>
            </a:r>
            <a:r>
              <a:rPr lang="es-MX" dirty="0" err="1" smtClean="0"/>
              <a:t>javafx</a:t>
            </a:r>
            <a:endParaRPr lang="es-MX" dirty="0"/>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63871"/>
            <a:ext cx="3877408" cy="2181042"/>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202" y="3722330"/>
            <a:ext cx="4209392" cy="2367783"/>
          </a:xfrm>
          <a:prstGeom prst="rect">
            <a:avLst/>
          </a:prstGeom>
        </p:spPr>
      </p:pic>
      <p:pic>
        <p:nvPicPr>
          <p:cNvPr id="5" name="Imagen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71901" y="1063871"/>
            <a:ext cx="3877408" cy="2181042"/>
          </a:xfrm>
          <a:prstGeom prst="rect">
            <a:avLst/>
          </a:prstGeom>
        </p:spPr>
      </p:pic>
      <p:pic>
        <p:nvPicPr>
          <p:cNvPr id="6" name="Imagen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5148" y="3564068"/>
            <a:ext cx="4209392" cy="2367783"/>
          </a:xfrm>
          <a:prstGeom prst="rect">
            <a:avLst/>
          </a:prstGeom>
        </p:spPr>
      </p:pic>
      <p:pic>
        <p:nvPicPr>
          <p:cNvPr id="7" name="Imagen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50873" y="1090248"/>
            <a:ext cx="3830515" cy="2154665"/>
          </a:xfrm>
          <a:prstGeom prst="rect">
            <a:avLst/>
          </a:prstGeom>
        </p:spPr>
      </p:pic>
    </p:spTree>
    <p:extLst>
      <p:ext uri="{BB962C8B-B14F-4D97-AF65-F5344CB8AC3E}">
        <p14:creationId xmlns:p14="http://schemas.microsoft.com/office/powerpoint/2010/main" val="456099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469" y="4721470"/>
            <a:ext cx="3057069" cy="1719601"/>
          </a:xfrm>
          <a:prstGeom prst="rect">
            <a:avLst/>
          </a:prstGeom>
        </p:spPr>
      </p:pic>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76" y="2392039"/>
            <a:ext cx="3621901" cy="2037319"/>
          </a:xfrm>
          <a:prstGeom prst="rect">
            <a:avLst/>
          </a:prstGeom>
        </p:spPr>
      </p:pic>
      <p:pic>
        <p:nvPicPr>
          <p:cNvPr id="5" name="Imagen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0546" y="2392039"/>
            <a:ext cx="3621901" cy="2037319"/>
          </a:xfrm>
          <a:prstGeom prst="rect">
            <a:avLst/>
          </a:prstGeom>
        </p:spPr>
      </p:pic>
      <p:pic>
        <p:nvPicPr>
          <p:cNvPr id="6" name="Imagen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19016" y="2392039"/>
            <a:ext cx="3610984" cy="2031178"/>
          </a:xfrm>
          <a:prstGeom prst="rect">
            <a:avLst/>
          </a:prstGeom>
        </p:spPr>
      </p:pic>
      <p:pic>
        <p:nvPicPr>
          <p:cNvPr id="7" name="Imagen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76015" y="4592239"/>
            <a:ext cx="3057069" cy="1719601"/>
          </a:xfrm>
          <a:prstGeom prst="rect">
            <a:avLst/>
          </a:prstGeom>
        </p:spPr>
      </p:pic>
      <p:sp>
        <p:nvSpPr>
          <p:cNvPr id="8" name="CuadroTexto 7"/>
          <p:cNvSpPr txBox="1"/>
          <p:nvPr/>
        </p:nvSpPr>
        <p:spPr>
          <a:xfrm>
            <a:off x="1371600" y="439615"/>
            <a:ext cx="8563708" cy="369332"/>
          </a:xfrm>
          <a:prstGeom prst="rect">
            <a:avLst/>
          </a:prstGeom>
          <a:noFill/>
        </p:spPr>
        <p:txBody>
          <a:bodyPr wrap="square" rtlCol="0">
            <a:spAutoFit/>
          </a:bodyPr>
          <a:lstStyle/>
          <a:p>
            <a:r>
              <a:rPr lang="es-MX" dirty="0" err="1" smtClean="0"/>
              <a:t>Simulacion</a:t>
            </a:r>
            <a:r>
              <a:rPr lang="es-MX" dirty="0" smtClean="0"/>
              <a:t> de lanzamiento de dados en </a:t>
            </a:r>
            <a:r>
              <a:rPr lang="es-MX" dirty="0" err="1" smtClean="0"/>
              <a:t>python</a:t>
            </a:r>
            <a:endParaRPr lang="es-MX" dirty="0"/>
          </a:p>
        </p:txBody>
      </p:sp>
    </p:spTree>
    <p:extLst>
      <p:ext uri="{BB962C8B-B14F-4D97-AF65-F5344CB8AC3E}">
        <p14:creationId xmlns:p14="http://schemas.microsoft.com/office/powerpoint/2010/main" val="2703375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223" y="2177914"/>
            <a:ext cx="3611515" cy="2031477"/>
          </a:xfrm>
          <a:prstGeom prst="rect">
            <a:avLst/>
          </a:prstGeom>
        </p:spPr>
      </p:pic>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0500" y="2145853"/>
            <a:ext cx="3611515" cy="2031477"/>
          </a:xfrm>
          <a:prstGeom prst="rect">
            <a:avLst/>
          </a:prstGeom>
        </p:spPr>
      </p:pic>
      <p:pic>
        <p:nvPicPr>
          <p:cNvPr id="4" name="Imagen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30662" y="2058461"/>
            <a:ext cx="3611515" cy="2031477"/>
          </a:xfrm>
          <a:prstGeom prst="rect">
            <a:avLst/>
          </a:prstGeom>
        </p:spPr>
      </p:pic>
      <p:pic>
        <p:nvPicPr>
          <p:cNvPr id="5" name="Imagen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3531" y="4397746"/>
            <a:ext cx="3611515" cy="2031477"/>
          </a:xfrm>
          <a:prstGeom prst="rect">
            <a:avLst/>
          </a:prstGeom>
        </p:spPr>
      </p:pic>
      <p:pic>
        <p:nvPicPr>
          <p:cNvPr id="6" name="Imagen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41577" y="4486200"/>
            <a:ext cx="3611515" cy="2031477"/>
          </a:xfrm>
          <a:prstGeom prst="rect">
            <a:avLst/>
          </a:prstGeom>
        </p:spPr>
      </p:pic>
      <p:sp>
        <p:nvSpPr>
          <p:cNvPr id="7" name="CuadroTexto 6"/>
          <p:cNvSpPr txBox="1"/>
          <p:nvPr/>
        </p:nvSpPr>
        <p:spPr>
          <a:xfrm>
            <a:off x="1899138" y="492369"/>
            <a:ext cx="8137281" cy="369332"/>
          </a:xfrm>
          <a:prstGeom prst="rect">
            <a:avLst/>
          </a:prstGeom>
          <a:noFill/>
        </p:spPr>
        <p:txBody>
          <a:bodyPr wrap="square" rtlCol="0">
            <a:spAutoFit/>
          </a:bodyPr>
          <a:lstStyle/>
          <a:p>
            <a:r>
              <a:rPr lang="es-MX" dirty="0" smtClean="0"/>
              <a:t>Resultados de simulación de un dado con lenguaje R</a:t>
            </a:r>
            <a:endParaRPr lang="es-MX" dirty="0"/>
          </a:p>
        </p:txBody>
      </p:sp>
    </p:spTree>
    <p:extLst>
      <p:ext uri="{BB962C8B-B14F-4D97-AF65-F5344CB8AC3E}">
        <p14:creationId xmlns:p14="http://schemas.microsoft.com/office/powerpoint/2010/main" val="1579266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Conclusión </a:t>
            </a:r>
            <a:endParaRPr lang="es-MX" dirty="0"/>
          </a:p>
        </p:txBody>
      </p:sp>
      <p:sp>
        <p:nvSpPr>
          <p:cNvPr id="3" name="Marcador de contenido 2"/>
          <p:cNvSpPr>
            <a:spLocks noGrp="1"/>
          </p:cNvSpPr>
          <p:nvPr>
            <p:ph idx="1"/>
          </p:nvPr>
        </p:nvSpPr>
        <p:spPr/>
        <p:txBody>
          <a:bodyPr>
            <a:normAutofit lnSpcReduction="10000"/>
          </a:bodyPr>
          <a:lstStyle/>
          <a:p>
            <a:r>
              <a:rPr lang="es-MX" dirty="0"/>
              <a:t>El desarrollo de este banco de ejercicios permitió demostrar que la simulación de un fenómeno aleatorio como el lanzamiento de un dado puede abordarse eficientemente desde diferentes lenguajes, cada uno aportando ventajas particulares. Java fortaleció la comprensión de la estructura del programa y el manejo de clases, Python facilitó la implementación rápida de soluciones, y R permitió un análisis estadístico y gráfico inmediato de los </a:t>
            </a:r>
            <a:r>
              <a:rPr lang="es-MX" dirty="0" err="1"/>
              <a:t>resultados.En</a:t>
            </a:r>
            <a:r>
              <a:rPr lang="es-MX" dirty="0"/>
              <a:t> conclusión, este banco no solo cumple con el propósito de practicar la generación de números aleatorios, sino que fomenta el análisis comparativo, el razonamiento lógico y la interpretación de datos. Representa una herramienta didáctica útil para consolidar conocimientos básicos de programación y estadística, preparando al estudiante para enfrentar problemas de simulación más complejos en el futuro.</a:t>
            </a:r>
          </a:p>
        </p:txBody>
      </p:sp>
    </p:spTree>
    <p:extLst>
      <p:ext uri="{BB962C8B-B14F-4D97-AF65-F5344CB8AC3E}">
        <p14:creationId xmlns:p14="http://schemas.microsoft.com/office/powerpoint/2010/main" val="24864845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13</TotalTime>
  <Words>503</Words>
  <Application>Microsoft Office PowerPoint</Application>
  <PresentationFormat>Panorámica</PresentationFormat>
  <Paragraphs>25</Paragraphs>
  <Slides>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7</vt:i4>
      </vt:variant>
    </vt:vector>
  </HeadingPairs>
  <TitlesOfParts>
    <vt:vector size="12" baseType="lpstr">
      <vt:lpstr>Arial</vt:lpstr>
      <vt:lpstr>Calibri</vt:lpstr>
      <vt:lpstr>Century Gothic</vt:lpstr>
      <vt:lpstr>Wingdings 3</vt:lpstr>
      <vt:lpstr>Ion</vt:lpstr>
      <vt:lpstr>Presentación de PowerPoint</vt:lpstr>
      <vt:lpstr>Introducción </vt:lpstr>
      <vt:lpstr>Justificación </vt:lpstr>
      <vt:lpstr>Presentación de PowerPoint</vt:lpstr>
      <vt:lpstr>Presentación de PowerPoint</vt:lpstr>
      <vt:lpstr>Presentación de PowerPoint</vt:lpstr>
      <vt:lpstr>Conclusión </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 AMD</dc:creator>
  <cp:lastModifiedBy>HP AMD</cp:lastModifiedBy>
  <cp:revision>2</cp:revision>
  <dcterms:created xsi:type="dcterms:W3CDTF">2026-09-02T00:01:18Z</dcterms:created>
  <dcterms:modified xsi:type="dcterms:W3CDTF">2026-09-02T00:15:07Z</dcterms:modified>
</cp:coreProperties>
</file>